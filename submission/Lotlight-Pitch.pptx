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292ae95b994de0" /><Relationship Type="http://schemas.openxmlformats.org/officeDocument/2006/relationships/extended-properties" Target="/docProps/app.xml" Id="R92de825049674860" /><Relationship Type="http://schemas.openxmlformats.org/officeDocument/2006/relationships/officeDocument" Target="/ppt/presentation.xml" Id="Rb90741dc8c1548db" /></Relationships>
</file>

<file path=ppt/presentation.xml><?xml version="1.0" encoding="utf-8"?>
<p:presentation xmlns:p="http://schemas.openxmlformats.org/presentationml/2006/main">
  <p:sldMasterIdLst>
    <p:sldMasterId xmlns:r="http://schemas.openxmlformats.org/officeDocument/2006/relationships" id="2147483648" r:id="R0a59fc1ea4dc4e1b"/>
  </p:sldMasterIdLst>
  <p:notesMasterIdLst>
    <p:notesMasterId xmlns:r="http://schemas.openxmlformats.org/officeDocument/2006/relationships" r:id="R9b060e064da4416b"/>
  </p:notesMasterIdLst>
  <p:sldIdLst>
    <p:sldId xmlns:r="http://schemas.openxmlformats.org/officeDocument/2006/relationships" id="256" r:id="R7b430f64ca214ab1"/>
    <p:sldId xmlns:r="http://schemas.openxmlformats.org/officeDocument/2006/relationships" id="257" r:id="R89a7ea3d8dc94a5c"/>
    <p:sldId xmlns:r="http://schemas.openxmlformats.org/officeDocument/2006/relationships" id="258" r:id="R4d26547b528b4664"/>
    <p:sldId xmlns:r="http://schemas.openxmlformats.org/officeDocument/2006/relationships" id="259" r:id="R7eb18993fa66412e"/>
    <p:sldId xmlns:r="http://schemas.openxmlformats.org/officeDocument/2006/relationships" id="260" r:id="R9d0308dfff0444ff"/>
    <p:sldId xmlns:r="http://schemas.openxmlformats.org/officeDocument/2006/relationships" id="261" r:id="Ra3a6f11b375b4210"/>
    <p:sldId xmlns:r="http://schemas.openxmlformats.org/officeDocument/2006/relationships" id="262" r:id="R85ef224d1d564a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c77db95c7b4286" /><Relationship Type="http://schemas.openxmlformats.org/officeDocument/2006/relationships/slideMaster" Target="/ppt/slideMasters/slideMaster1.xml" Id="R0a59fc1ea4dc4e1b" /><Relationship Type="http://schemas.openxmlformats.org/officeDocument/2006/relationships/notesMaster" Target="/ppt/notesMasters/notesMaster1.xml" Id="R9b060e064da4416b" /><Relationship Type="http://schemas.openxmlformats.org/officeDocument/2006/relationships/presProps" Target="/ppt/presProps.xml" Id="R0cae06f421c44d77" /><Relationship Type="http://schemas.openxmlformats.org/officeDocument/2006/relationships/tableStyles" Target="/ppt/tableStyles.xml" Id="R26eab9b65ed14bb5" /><Relationship Type="http://schemas.openxmlformats.org/officeDocument/2006/relationships/slide" Target="/ppt/slides/slide1.xml" Id="R7b430f64ca214ab1" /><Relationship Type="http://schemas.openxmlformats.org/officeDocument/2006/relationships/slide" Target="/ppt/slides/slide2.xml" Id="R89a7ea3d8dc94a5c" /><Relationship Type="http://schemas.openxmlformats.org/officeDocument/2006/relationships/slide" Target="/ppt/slides/slide3.xml" Id="R4d26547b528b4664" /><Relationship Type="http://schemas.openxmlformats.org/officeDocument/2006/relationships/slide" Target="/ppt/slides/slide4.xml" Id="R7eb18993fa66412e" /><Relationship Type="http://schemas.openxmlformats.org/officeDocument/2006/relationships/slide" Target="/ppt/slides/slide5.xml" Id="R9d0308dfff0444ff" /><Relationship Type="http://schemas.openxmlformats.org/officeDocument/2006/relationships/slide" Target="/ppt/slides/slide6.xml" Id="Ra3a6f11b375b4210" /><Relationship Type="http://schemas.openxmlformats.org/officeDocument/2006/relationships/slide" Target="/ppt/slides/slide7.xml" Id="R85ef224d1d564a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6c1313b19147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e2aae0dbf345ba" /><Relationship Type="http://schemas.openxmlformats.org/officeDocument/2006/relationships/notesMaster" Target="/ppt/notesMasters/notesMaster1.xml" Id="R33f16e76e3bd40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eb674a6a37426d" /><Relationship Type="http://schemas.openxmlformats.org/officeDocument/2006/relationships/notesMaster" Target="/ppt/notesMasters/notesMaster1.xml" Id="Re796cc6b591649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9af5b3cd554ccc" /><Relationship Type="http://schemas.openxmlformats.org/officeDocument/2006/relationships/notesMaster" Target="/ppt/notesMasters/notesMaster1.xml" Id="Rb4aa5cb4036c47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74d36e6ff54345" /><Relationship Type="http://schemas.openxmlformats.org/officeDocument/2006/relationships/notesMaster" Target="/ppt/notesMasters/notesMaster1.xml" Id="R02855fb38de840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f00da4a3114c98" /><Relationship Type="http://schemas.openxmlformats.org/officeDocument/2006/relationships/notesMaster" Target="/ppt/notesMasters/notesMaster1.xml" Id="R539d9ff3cb484d7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7e0893a0c24c1d" /><Relationship Type="http://schemas.openxmlformats.org/officeDocument/2006/relationships/notesMaster" Target="/ppt/notesMasters/notesMaster1.xml" Id="R50e8e17b716a40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a6f9cf63ac40a4" /><Relationship Type="http://schemas.openxmlformats.org/officeDocument/2006/relationships/notesMaster" Target="/ppt/notesMasters/notesMaster1.xml" Id="R8d2657f31da443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 Shivam Gupta, and this is Lotlight. Picture a clinic manager who receives a medical device recall. Reading the notice is only the beginning. They still have to find the right product and lot across their shelves, resolve missing identifiers, and record what happened. Lotlight brings that work into one review. Our demonstration clinic and inventory are fictional. The historical manufacturer notice is real.</a:t>
            </a:r>
          </a:p>
          <a:p xmlns:a="http://schemas.openxmlformats.org/drawingml/2006/main">
            <a:r>
              <a:t/>
            </a:r>
          </a:p>
          <a:p xmlns:a="http://schemas.openxmlformats.org/drawingml/2006/main">
            <a:r>
              <a:t>Source: Baxter urgent medical device recall FA-2025-039, dated 29 August 2025, hosted by Medline: https://www.medline.com/media/assets/pdf/vendor-list/FA-2025-039-Customer-Letter-Final-Combined.pdf</a:t>
            </a:r>
          </a:p>
          <a:p xmlns:a="http://schemas.openxmlformats.org/drawingml/2006/main">
            <a:r>
              <a:t>Creator: Shivam Gupta. AI-assisted research and development.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 uses two catalog and lot pairs from Baxter’s 29 August 2025 notice. It is a training extract, not the full recall. In fictional Willow Clinic stock, two exact matches account for 36 units. Two other inventory lines account for 14 units and need more identifier evidence. Those rows stay visible for review. The full synthetic inventory contains eight lines and 218 units across four locations. These figures describe the fixture, not a measured real-world impact.</a:t>
            </a:r>
          </a:p>
          <a:p xmlns:a="http://schemas.openxmlformats.org/drawingml/2006/main">
            <a:r>
              <a:t/>
            </a:r>
          </a:p>
          <a:p xmlns:a="http://schemas.openxmlformats.org/drawingml/2006/main">
            <a:r>
              <a:t>Manufacturer source: https://www.medline.com/media/assets/pdf/vendor-list/FA-2025-039-Customer-Letter-Final-Combined.pdf</a:t>
            </a:r>
          </a:p>
          <a:p xmlns:a="http://schemas.openxmlformats.org/drawingml/2006/main">
            <a:r>
              <a:t>Selected pairs: 2C8632 / R25C31031 and 2R8858 / R25A13024. Product screenshot: implemented Lotlight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 has a deliberately narrow job. A local MiniLM model compares product descriptions and suggests candidates when naming differs. Similarity never establishes that a product is affected. Deterministic matching checks manufacturer, catalog and the corresponding lot pair. It must not mix the catalog from one row with a lot from another. Missing identifiers remain unresolved. A person reviews the source and approves the scope before recording a response.</a:t>
            </a:r>
          </a:p>
          <a:p xmlns:a="http://schemas.openxmlformats.org/drawingml/2006/main">
            <a:r>
              <a:t/>
            </a:r>
          </a:p>
          <a:p xmlns:a="http://schemas.openxmlformats.org/drawingml/2006/main">
            <a:r>
              <a:t>Implementation basis: Lotlight source code and supplied implementation scope. Model family: MiniLM sentence embeddings. Availability and model download behavior depend on the user’s browser and network. No API key is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demo path. First, load the sample or bring a stock CSV and the text of a notice. Text-based PDF and TXT imports are supported, but the parser intentionally accepts supported labeled lines. Staff must transcribe PDF tables into labeled catalog and lot lines and check them against the original. Next, review exact pair evidence and unresolved identifiers, then approve the source scope. Record a staff response with the responsible person, a full quantity and evidence. Finally, sign in with Firebase Authentication to save the workspace and export the audit. Firebase Hosting serves the public app, Cloud Run serves the API, and Firestore stores the account workspace. Immutable source and inventory snapshots preserve the basis of each response. A correction to one inventory line retains other actions. This MVP does not offer shared team roles, live inventory integrations or automatic recall monitoring.</a:t>
            </a:r>
          </a:p>
          <a:p xmlns:a="http://schemas.openxmlformats.org/drawingml/2006/main">
            <a:r>
              <a:t/>
            </a:r>
          </a:p>
          <a:p xmlns:a="http://schemas.openxmlformats.org/drawingml/2006/main">
            <a:r>
              <a:t>Source: implemented Lotlight feature scope and completed browser workflow checks. PDF imports require extractable text. Scanned documents need a separate transcription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initial buyer hypothesis is an operations manager at a small clinic. The proposed price is 149 dollars per site per month. If the workflow saved five staff hours at an assumed thirty dollars per hour, that would equal 150 dollars of staff time. Neither the savings nor the willingness to pay has been validated. ECRI already provides enterprise recall workflows and inventory matching. We are testing a narrower entry point: a lightweight setup for clinics that work from spreadsheets. We have no evidence that competitors cannot serve those clinics. A durable advantage would require trusted workflows, reliable import mappings and retained customers.</a:t>
            </a:r>
          </a:p>
          <a:p xmlns:a="http://schemas.openxmlformats.org/drawingml/2006/main">
            <a:r>
              <a:t/>
            </a:r>
          </a:p>
          <a:p xmlns:a="http://schemas.openxmlformats.org/drawingml/2006/main">
            <a:r>
              <a:t>Competitive source: ECRI, Enhancing Recall Management: The Power of ECRI and Workday Integration, https://home.ecri.org/blogs/ecri-blog/enhancing-recall-management-the-power-of-ecri-and-workday-integration</a:t>
            </a:r>
          </a:p>
          <a:p xmlns:a="http://schemas.openxmlformats.org/drawingml/2006/main">
            <a:r>
              <a:t>All pricing, cost and time figures on this slide are explicit commercial assumptions. No current ECRI price comparison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Thirty-six automated unit tests pass. Ten public Firebase browser tests pass, covering the review workflow, sign-in and persistence, exports and mobile use. We also ran real local AI inference on twelve hand-authored synthetic descriptions, with six relevant examples. The top six semantic results contained five of the relevant examples. Lexical matching found four. With a threshold of 0.3 chosen after inspecting this tiny set, the system surfaced five relevant candidates and no negative examples. It still missed one plausible alias. This is a smoke test and demonstration, not a held-out benchmark or a statistical accuracy claim. There are no real users or clinical validation yet. The next step is a supervised drill with clinic staff.</a:t>
            </a:r>
          </a:p>
          <a:p xmlns:a="http://schemas.openxmlformats.org/drawingml/2006/main">
            <a:r>
              <a:t/>
            </a:r>
          </a:p>
          <a:p xmlns:a="http://schemas.openxmlformats.org/drawingml/2006/main">
            <a:r>
              <a:t>Source: completed Lotlight automated test and browser smoke results supplied by the implementation team. Accessibility certification is not claimed. Dataset size: 12 synthetic descriptions, 6 relevant. Threshold tuning used the same examples. The result does not establish performance on real inventory.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Lotlight is ready for its next honest test: a supervised recall drill with clinic staff. I want to recruit three pilot clinics, compare review time and missed identifiers with their existing process, and learn whether the evidence record is useful enough to pay for. The goal is simple: help a small healthcare team turn a notice into a documented response. Try the public app at https://lotlight-care.web.app. The submission includes a 169-second AI-narrated demonstration with captions. I’m Shivam Gupta. Thank you.</a:t>
            </a:r>
          </a:p>
          <a:p xmlns:a="http://schemas.openxmlformats.org/drawingml/2006/main">
            <a:r>
              <a:t/>
            </a:r>
          </a:p>
          <a:p xmlns:a="http://schemas.openxmlformats.org/drawingml/2006/main">
            <a:r>
              <a:t>The pilot is proposed and no clinic recruitment is claimed. Creator: Shivam Gupta, with AI-assisted research and development. This is an operational decision-support MVP, not clinical decision software or a certified compliance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242ba129704a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f6e64379994ffa" /><Relationship Type="http://schemas.openxmlformats.org/officeDocument/2006/relationships/slideLayout" Target="/ppt/slideLayouts/slideLayout1.xml" Id="R9c3ac9a9e88544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3ac9a9e88544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1179a9ccf8c4a5c" /><Relationship Type="http://schemas.openxmlformats.org/officeDocument/2006/relationships/notesSlide" Target="/ppt/notesSlides/notesSlide1.xml" Id="Rf7201a4f594c48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eb205c16e7845fa" /><Relationship Type="http://schemas.openxmlformats.org/officeDocument/2006/relationships/image" Target="/ppt/media/image.png" Id="R61c510d0016f4cac" /><Relationship Type="http://schemas.openxmlformats.org/officeDocument/2006/relationships/notesSlide" Target="/ppt/notesSlides/notesSlide2.xml" Id="R126c34ec05f74d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27086b4a2324df8" /><Relationship Type="http://schemas.openxmlformats.org/officeDocument/2006/relationships/image" Target="/ppt/media/image2.png" Id="R4193dc93bd0845c1" /><Relationship Type="http://schemas.openxmlformats.org/officeDocument/2006/relationships/notesSlide" Target="/ppt/notesSlides/notesSlide3.xml" Id="R749b02cc98c342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acc1e7aeff453c" /><Relationship Type="http://schemas.openxmlformats.org/officeDocument/2006/relationships/notesSlide" Target="/ppt/notesSlides/notesSlide4.xml" Id="R1c6d93ebc34341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9bcabeb6e5143fd" /><Relationship Type="http://schemas.openxmlformats.org/officeDocument/2006/relationships/notesSlide" Target="/ppt/notesSlides/notesSlide5.xml" Id="R0cdbc0e2809d40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93b14c6c10f4d91" /><Relationship Type="http://schemas.openxmlformats.org/officeDocument/2006/relationships/notesSlide" Target="/ppt/notesSlides/notesSlide6.xml" Id="R70a1bf56d2c440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d7a94f03706491e" /><Relationship Type="http://schemas.openxmlformats.org/officeDocument/2006/relationships/notesSlide" Target="/ppt/notesSlides/notesSlide7.xml" Id="R1947b30eb75146ce" /></Relationships>
</file>

<file path=ppt/slides/slide1.xml><?xml version="1.0" encoding="utf-8"?>
<p:sld xmlns:p="http://schemas.openxmlformats.org/presentationml/2006/main">
  <p:cSld>
    <p:bg>
      <p:bgPr>
        <a:solidFill xmlns:a="http://schemas.openxmlformats.org/drawingml/2006/main">
          <a:srgbClr val="26332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9A1FFD-47C0-4E34-9648-5E2FAC10F018}"/>
              </a:ext>
            </a:extLst>
          </p:cNvPr>
          <p:cNvSpPr>
            <a:spLocks xmlns:a="http://schemas.openxmlformats.org/drawingml/2006/main" noGrp="1"/>
          </p:cNvSpPr>
          <p:nvPr/>
        </p:nvSpPr>
        <p:spPr>
          <a:xfrm xmlns:a="http://schemas.openxmlformats.org/drawingml/2006/main">
            <a:off x="609600" y="2667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DEC8B"/>
                </a:solidFill>
                <a:latin typeface="Helvetica Neue"/>
                <a:ea typeface="Helvetica Neue"/>
                <a:cs typeface="Helvetica Neue"/>
              </a:defRPr>
            </a:pPr>
            <a:r>
              <a:rPr sz="1650" b="1">
                <a:solidFill>
                  <a:srgbClr val="DDEC8B"/>
                </a:solidFill>
                <a:latin typeface="Helvetica Neue"/>
                <a:ea typeface="Helvetica Neue"/>
                <a:cs typeface="Helvetica Neue"/>
              </a:rPr>
              <a:t>lotlight</a:t>
            </a:r>
          </a:p>
        </p:txBody>
      </p:sp>
      <p:sp>
        <p:nvSpPr>
          <p:cNvPr id="2" name="">
            <a:extLst xmlns:a="http://schemas.openxmlformats.org/drawingml/2006/main">
              <a:ext uri="{FF2B5EF4-FFF2-40B4-BE49-F238E27FC236}">
                <a16:creationId xmlns:a16="http://schemas.microsoft.com/office/drawing/2014/main" id="{B6C3B23E-A577-4B3B-8CFD-8AD46EDD809A}"/>
              </a:ext>
            </a:extLst>
          </p:cNvPr>
          <p:cNvSpPr>
            <a:spLocks xmlns:a="http://schemas.openxmlformats.org/drawingml/2006/main" noGrp="1"/>
          </p:cNvSpPr>
          <p:nvPr/>
        </p:nvSpPr>
        <p:spPr>
          <a:xfrm xmlns:a="http://schemas.openxmlformats.org/drawingml/2006/main">
            <a:off x="10953750" y="285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99E"/>
                </a:solidFill>
                <a:latin typeface="Helvetica Neue"/>
                <a:ea typeface="Helvetica Neue"/>
                <a:cs typeface="Helvetica Neue"/>
              </a:defRPr>
            </a:pPr>
            <a:r>
              <a:rPr sz="1200" b="0">
                <a:solidFill>
                  <a:srgbClr val="ACB99E"/>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56D5B81A-72DB-4E56-8435-425A926AF484}"/>
              </a:ext>
            </a:extLst>
          </p:cNvPr>
          <p:cNvSpPr>
            <a:spLocks xmlns:a="http://schemas.openxmlformats.org/drawingml/2006/main" noGrp="1"/>
          </p:cNvSpPr>
          <p:nvPr/>
        </p:nvSpPr>
        <p:spPr>
          <a:xfrm xmlns:a="http://schemas.openxmlformats.org/drawingml/2006/main">
            <a:off x="609600" y="1038225"/>
            <a:ext cx="108394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8F9F5"/>
                </a:solidFill>
                <a:latin typeface="Helvetica Neue"/>
                <a:ea typeface="Helvetica Neue"/>
                <a:cs typeface="Helvetica Neue"/>
              </a:defRPr>
            </a:pPr>
            <a:r>
              <a:rPr sz="4800" b="1">
                <a:solidFill>
                  <a:srgbClr val="F8F9F5"/>
                </a:solidFill>
                <a:latin typeface="Helvetica Neue"/>
                <a:ea typeface="Helvetica Neue"/>
                <a:cs typeface="Helvetica Neue"/>
              </a:rPr>
              <a:t>A recall arrives.</a:t>
            </a:r>
          </a:p>
          <a:p xmlns:a="http://schemas.openxmlformats.org/drawingml/2006/main">
            <a:pPr>
              <a:defRPr sz="4800" b="1">
                <a:solidFill>
                  <a:srgbClr val="F8F9F5"/>
                </a:solidFill>
                <a:latin typeface="Helvetica Neue"/>
                <a:ea typeface="Helvetica Neue"/>
                <a:cs typeface="Helvetica Neue"/>
              </a:defRPr>
            </a:pPr>
            <a:r>
              <a:rPr sz="4800" b="1">
                <a:solidFill>
                  <a:srgbClr val="F8F9F5"/>
                </a:solidFill>
                <a:latin typeface="Helvetica Neue"/>
                <a:ea typeface="Helvetica Neue"/>
                <a:cs typeface="Helvetica Neue"/>
              </a:rPr>
              <a:t>The shelf still needs checking.</a:t>
            </a:r>
          </a:p>
        </p:txBody>
      </p:sp>
      <p:sp>
        <p:nvSpPr>
          <p:cNvPr id="4" name="">
            <a:extLst xmlns:a="http://schemas.openxmlformats.org/drawingml/2006/main">
              <a:ext uri="{FF2B5EF4-FFF2-40B4-BE49-F238E27FC236}">
                <a16:creationId xmlns:a16="http://schemas.microsoft.com/office/drawing/2014/main" id="{F0098A41-0605-45CC-B31B-6B377D08A753}"/>
              </a:ext>
            </a:extLst>
          </p:cNvPr>
          <p:cNvSpPr>
            <a:spLocks xmlns:a="http://schemas.openxmlformats.org/drawingml/2006/main" noGrp="1"/>
          </p:cNvSpPr>
          <p:nvPr/>
        </p:nvSpPr>
        <p:spPr>
          <a:xfrm xmlns:a="http://schemas.openxmlformats.org/drawingml/2006/main">
            <a:off x="609600" y="30861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DDEC8B"/>
                </a:solidFill>
                <a:latin typeface="Helvetica Neue"/>
                <a:ea typeface="Helvetica Neue"/>
                <a:cs typeface="Helvetica Neue"/>
              </a:defRPr>
            </a:pPr>
            <a:r>
              <a:rPr sz="6150" b="1">
                <a:solidFill>
                  <a:srgbClr val="DDEC8B"/>
                </a:solidFill>
                <a:latin typeface="Helvetica Neue"/>
                <a:ea typeface="Helvetica Neue"/>
                <a:cs typeface="Helvetica Neue"/>
              </a:rPr>
              <a:t>Lotlight</a:t>
            </a:r>
          </a:p>
        </p:txBody>
      </p:sp>
      <p:sp>
        <p:nvSpPr>
          <p:cNvPr id="5" name="">
            <a:extLst xmlns:a="http://schemas.openxmlformats.org/drawingml/2006/main">
              <a:ext uri="{FF2B5EF4-FFF2-40B4-BE49-F238E27FC236}">
                <a16:creationId xmlns:a16="http://schemas.microsoft.com/office/drawing/2014/main" id="{7F0101D1-F4E2-47CE-AB59-69A4A98EB2F3}"/>
              </a:ext>
            </a:extLst>
          </p:cNvPr>
          <p:cNvSpPr>
            <a:spLocks xmlns:a="http://schemas.openxmlformats.org/drawingml/2006/main" noGrp="1"/>
          </p:cNvSpPr>
          <p:nvPr/>
        </p:nvSpPr>
        <p:spPr>
          <a:xfrm xmlns:a="http://schemas.openxmlformats.org/drawingml/2006/main">
            <a:off x="647700" y="4171950"/>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8F9F5"/>
                </a:solidFill>
                <a:latin typeface="Helvetica Neue"/>
                <a:ea typeface="Helvetica Neue"/>
                <a:cs typeface="Helvetica Neue"/>
              </a:defRPr>
            </a:pPr>
            <a:r>
              <a:rPr sz="2250" b="0">
                <a:solidFill>
                  <a:srgbClr val="F8F9F5"/>
                </a:solidFill>
                <a:latin typeface="Helvetica Neue"/>
                <a:ea typeface="Helvetica Neue"/>
                <a:cs typeface="Helvetica Neue"/>
              </a:rPr>
              <a:t>Recall response for small healthcare teams</a:t>
            </a:r>
          </a:p>
        </p:txBody>
      </p:sp>
      <p:sp>
        <p:nvSpPr>
          <p:cNvPr id="6" name="">
            <a:extLst xmlns:a="http://schemas.openxmlformats.org/drawingml/2006/main">
              <a:ext uri="{FF2B5EF4-FFF2-40B4-BE49-F238E27FC236}">
                <a16:creationId xmlns:a16="http://schemas.microsoft.com/office/drawing/2014/main" id="{9D9BBCF0-05A4-4738-B97A-34E9AA07185E}"/>
              </a:ext>
            </a:extLst>
          </p:cNvPr>
          <p:cNvSpPr>
            <a:spLocks xmlns:a="http://schemas.openxmlformats.org/drawingml/2006/main" noGrp="1"/>
          </p:cNvSpPr>
          <p:nvPr/>
        </p:nvSpPr>
        <p:spPr>
          <a:xfrm xmlns:a="http://schemas.openxmlformats.org/drawingml/2006/main">
            <a:off x="647700" y="4943475"/>
            <a:ext cx="1028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7DFD0"/>
                </a:solidFill>
                <a:latin typeface="Helvetica Neue"/>
                <a:ea typeface="Helvetica Neue"/>
                <a:cs typeface="Helvetica Neue"/>
              </a:defRPr>
            </a:pPr>
            <a:r>
              <a:rPr sz="1800" b="0">
                <a:solidFill>
                  <a:srgbClr val="D7DFD0"/>
                </a:solidFill>
                <a:latin typeface="Helvetica Neue"/>
                <a:ea typeface="Helvetica Neue"/>
                <a:cs typeface="Helvetica Neue"/>
              </a:rPr>
              <a:t>Picture a clinic manager with a notice, a stock list and four storage locations.</a:t>
            </a:r>
          </a:p>
          <a:p xmlns:a="http://schemas.openxmlformats.org/drawingml/2006/main">
            <a:pPr>
              <a:defRPr sz="1800" b="0">
                <a:solidFill>
                  <a:srgbClr val="D7DFD0"/>
                </a:solidFill>
                <a:latin typeface="Helvetica Neue"/>
                <a:ea typeface="Helvetica Neue"/>
                <a:cs typeface="Helvetica Neue"/>
              </a:defRPr>
            </a:pPr>
            <a:r>
              <a:rPr sz="1800" b="0">
                <a:solidFill>
                  <a:srgbClr val="D7DFD0"/>
                </a:solidFill>
                <a:latin typeface="Helvetica Neue"/>
                <a:ea typeface="Helvetica Neue"/>
                <a:cs typeface="Helvetica Neue"/>
              </a:rPr>
              <a:t>Lotlight helps them document which products need attention and what staff did.</a:t>
            </a:r>
          </a:p>
        </p:txBody>
      </p:sp>
      <p:sp>
        <p:nvSpPr>
          <p:cNvPr id="7" name="">
            <a:extLst xmlns:a="http://schemas.openxmlformats.org/drawingml/2006/main">
              <a:ext uri="{FF2B5EF4-FFF2-40B4-BE49-F238E27FC236}">
                <a16:creationId xmlns:a16="http://schemas.microsoft.com/office/drawing/2014/main" id="{D22C672C-64A6-4A6D-B086-3FC7A523A439}"/>
              </a:ext>
            </a:extLst>
          </p:cNvPr>
          <p:cNvSpPr>
            <a:spLocks xmlns:a="http://schemas.openxmlformats.org/drawingml/2006/main" noGrp="1"/>
          </p:cNvSpPr>
          <p:nvPr/>
        </p:nvSpPr>
        <p:spPr>
          <a:xfrm xmlns:a="http://schemas.openxmlformats.org/drawingml/2006/main">
            <a:off x="647700" y="6229350"/>
            <a:ext cx="633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8F9F5"/>
                </a:solidFill>
                <a:latin typeface="Helvetica Neue"/>
                <a:ea typeface="Helvetica Neue"/>
                <a:cs typeface="Helvetica Neue"/>
              </a:defRPr>
            </a:pPr>
            <a:r>
              <a:rPr sz="1350" b="0">
                <a:solidFill>
                  <a:srgbClr val="F8F9F5"/>
                </a:solidFill>
                <a:latin typeface="Helvetica Neue"/>
                <a:ea typeface="Helvetica Neue"/>
                <a:cs typeface="Helvetica Neue"/>
              </a:rPr>
              <a:t>Shivam Gupta   /   DSH Hacks V2</a:t>
            </a:r>
          </a:p>
        </p:txBody>
      </p:sp>
      <p:sp>
        <p:nvSpPr>
          <p:cNvPr id="8" name="">
            <a:extLst xmlns:a="http://schemas.openxmlformats.org/drawingml/2006/main">
              <a:ext uri="{FF2B5EF4-FFF2-40B4-BE49-F238E27FC236}">
                <a16:creationId xmlns:a16="http://schemas.microsoft.com/office/drawing/2014/main" id="{BF6BD2E6-1791-4D92-A4F0-DD395FF8990C}"/>
              </a:ext>
            </a:extLst>
          </p:cNvPr>
          <p:cNvSpPr>
            <a:spLocks xmlns:a="http://schemas.openxmlformats.org/drawingml/2006/main" noGrp="1"/>
          </p:cNvSpPr>
          <p:nvPr/>
        </p:nvSpPr>
        <p:spPr>
          <a:xfrm xmlns:a="http://schemas.openxmlformats.org/drawingml/2006/main">
            <a:off x="9620250" y="622935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99E"/>
                </a:solidFill>
                <a:latin typeface="Helvetica Neue"/>
                <a:ea typeface="Helvetica Neue"/>
                <a:cs typeface="Helvetica Neue"/>
              </a:defRPr>
            </a:pPr>
            <a:r>
              <a:rPr sz="1200" b="0">
                <a:solidFill>
                  <a:srgbClr val="ACB99E"/>
                </a:solidFill>
                <a:latin typeface="Helvetica Neue"/>
                <a:ea typeface="Helvetica Neue"/>
                <a:cs typeface="Helvetica Neue"/>
              </a:rPr>
              <a:t>Fictional scenario</a:t>
            </a:r>
          </a:p>
        </p:txBody>
      </p:sp>
    </p:spTree>
    <p:extLst>
      <p:ext uri="{BB962C8B-B14F-4D97-AF65-F5344CB8AC3E}">
        <p14:creationId xmlns:p14="http://schemas.microsoft.com/office/powerpoint/2010/main" val="686298574"/>
      </p:ext>
    </p:extLst>
  </p:cSld>
</p:sld>
</file>

<file path=ppt/slides/slide2.xml><?xml version="1.0" encoding="utf-8"?>
<p:sld xmlns:p="http://schemas.openxmlformats.org/presentationml/2006/main">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6873D14-849D-428F-96C8-B5E68E22EB31}"/>
              </a:ext>
            </a:extLst>
          </p:cNvPr>
          <p:cNvSpPr>
            <a:spLocks xmlns:a="http://schemas.openxmlformats.org/drawingml/2006/main" noGrp="1"/>
          </p:cNvSpPr>
          <p:nvPr/>
        </p:nvSpPr>
        <p:spPr>
          <a:xfrm xmlns:a="http://schemas.openxmlformats.org/drawingml/2006/main">
            <a:off x="609600" y="2667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63329"/>
                </a:solidFill>
                <a:latin typeface="Helvetica Neue"/>
                <a:ea typeface="Helvetica Neue"/>
                <a:cs typeface="Helvetica Neue"/>
              </a:defRPr>
            </a:pPr>
            <a:r>
              <a:rPr sz="1650" b="1">
                <a:solidFill>
                  <a:srgbClr val="263329"/>
                </a:solidFill>
                <a:latin typeface="Helvetica Neue"/>
                <a:ea typeface="Helvetica Neue"/>
                <a:cs typeface="Helvetica Neue"/>
              </a:rPr>
              <a:t>lotlight</a:t>
            </a:r>
          </a:p>
        </p:txBody>
      </p:sp>
      <p:sp>
        <p:nvSpPr>
          <p:cNvPr id="2" name="">
            <a:extLst xmlns:a="http://schemas.openxmlformats.org/drawingml/2006/main">
              <a:ext uri="{FF2B5EF4-FFF2-40B4-BE49-F238E27FC236}">
                <a16:creationId xmlns:a16="http://schemas.microsoft.com/office/drawing/2014/main" id="{551C2555-34FE-4AE3-88B8-223A72AD45F5}"/>
              </a:ext>
            </a:extLst>
          </p:cNvPr>
          <p:cNvSpPr>
            <a:spLocks xmlns:a="http://schemas.openxmlformats.org/drawingml/2006/main" noGrp="1"/>
          </p:cNvSpPr>
          <p:nvPr/>
        </p:nvSpPr>
        <p:spPr>
          <a:xfrm xmlns:a="http://schemas.openxmlformats.org/drawingml/2006/main">
            <a:off x="10953750" y="285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715F"/>
                </a:solidFill>
                <a:latin typeface="Helvetica Neue"/>
                <a:ea typeface="Helvetica Neue"/>
                <a:cs typeface="Helvetica Neue"/>
              </a:defRPr>
            </a:pPr>
            <a:r>
              <a:rPr sz="1200" b="0">
                <a:solidFill>
                  <a:srgbClr val="66715F"/>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9EC1E676-4CF0-472D-A42E-0937B16F3F93}"/>
              </a:ext>
            </a:extLst>
          </p:cNvPr>
          <p:cNvSpPr>
            <a:spLocks xmlns:a="http://schemas.openxmlformats.org/drawingml/2006/main" noGrp="1"/>
          </p:cNvSpPr>
          <p:nvPr/>
        </p:nvSpPr>
        <p:spPr>
          <a:xfrm xmlns:a="http://schemas.openxmlformats.org/drawingml/2006/main">
            <a:off x="609600" y="895350"/>
            <a:ext cx="1081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3329"/>
                </a:solidFill>
                <a:latin typeface="Helvetica Neue"/>
                <a:ea typeface="Helvetica Neue"/>
                <a:cs typeface="Helvetica Neue"/>
              </a:defRPr>
            </a:pPr>
            <a:r>
              <a:rPr sz="3600" b="1">
                <a:solidFill>
                  <a:srgbClr val="263329"/>
                </a:solidFill>
                <a:latin typeface="Helvetica Neue"/>
                <a:ea typeface="Helvetica Neue"/>
                <a:cs typeface="Helvetica Neue"/>
              </a:rPr>
              <a:t>A real notice. A fictional clinic.</a:t>
            </a:r>
          </a:p>
        </p:txBody>
      </p:sp>
      <p:sp>
        <p:nvSpPr>
          <p:cNvPr id="4" name="">
            <a:extLst xmlns:a="http://schemas.openxmlformats.org/drawingml/2006/main">
              <a:ext uri="{FF2B5EF4-FFF2-40B4-BE49-F238E27FC236}">
                <a16:creationId xmlns:a16="http://schemas.microsoft.com/office/drawing/2014/main" id="{4F2B5D7F-10A5-40D0-9616-B791B6A944C1}"/>
              </a:ext>
            </a:extLst>
          </p:cNvPr>
          <p:cNvSpPr>
            <a:spLocks xmlns:a="http://schemas.openxmlformats.org/drawingml/2006/main" noGrp="1"/>
          </p:cNvSpPr>
          <p:nvPr/>
        </p:nvSpPr>
        <p:spPr>
          <a:xfrm xmlns:a="http://schemas.openxmlformats.org/drawingml/2006/main">
            <a:off x="619125" y="2200275"/>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B55C36"/>
                </a:solidFill>
                <a:latin typeface="Helvetica Neue"/>
                <a:ea typeface="Helvetica Neue"/>
                <a:cs typeface="Helvetica Neue"/>
              </a:defRPr>
            </a:pPr>
            <a:r>
              <a:rPr sz="6600" b="1">
                <a:solidFill>
                  <a:srgbClr val="B55C36"/>
                </a:solidFill>
                <a:latin typeface="Helvetica Neue"/>
                <a:ea typeface="Helvetica Neue"/>
                <a:cs typeface="Helvetica Neue"/>
              </a:rPr>
              <a:t>36</a:t>
            </a:r>
          </a:p>
        </p:txBody>
      </p:sp>
      <p:sp>
        <p:nvSpPr>
          <p:cNvPr id="5" name="">
            <a:extLst xmlns:a="http://schemas.openxmlformats.org/drawingml/2006/main">
              <a:ext uri="{FF2B5EF4-FFF2-40B4-BE49-F238E27FC236}">
                <a16:creationId xmlns:a16="http://schemas.microsoft.com/office/drawing/2014/main" id="{AD95EF11-392D-4AE1-AB1A-96CC9A8930A1}"/>
              </a:ext>
            </a:extLst>
          </p:cNvPr>
          <p:cNvSpPr>
            <a:spLocks xmlns:a="http://schemas.openxmlformats.org/drawingml/2006/main" noGrp="1"/>
          </p:cNvSpPr>
          <p:nvPr/>
        </p:nvSpPr>
        <p:spPr>
          <a:xfrm xmlns:a="http://schemas.openxmlformats.org/drawingml/2006/main">
            <a:off x="647700" y="3171825"/>
            <a:ext cx="328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63329"/>
                </a:solidFill>
                <a:latin typeface="Helvetica Neue"/>
                <a:ea typeface="Helvetica Neue"/>
                <a:cs typeface="Helvetica Neue"/>
              </a:defRPr>
            </a:pPr>
            <a:r>
              <a:rPr sz="1875" b="0">
                <a:solidFill>
                  <a:srgbClr val="263329"/>
                </a:solidFill>
                <a:latin typeface="Helvetica Neue"/>
                <a:ea typeface="Helvetica Neue"/>
                <a:cs typeface="Helvetica Neue"/>
              </a:rPr>
              <a:t>units with exact identifier pairs</a:t>
            </a:r>
          </a:p>
        </p:txBody>
      </p:sp>
      <p:sp>
        <p:nvSpPr>
          <p:cNvPr id="6" name="">
            <a:extLst xmlns:a="http://schemas.openxmlformats.org/drawingml/2006/main">
              <a:ext uri="{FF2B5EF4-FFF2-40B4-BE49-F238E27FC236}">
                <a16:creationId xmlns:a16="http://schemas.microsoft.com/office/drawing/2014/main" id="{95B6454A-BA5B-4363-A316-75C411FC534A}"/>
              </a:ext>
            </a:extLst>
          </p:cNvPr>
          <p:cNvSpPr>
            <a:spLocks xmlns:a="http://schemas.openxmlformats.org/drawingml/2006/main" noGrp="1"/>
          </p:cNvSpPr>
          <p:nvPr/>
        </p:nvSpPr>
        <p:spPr>
          <a:xfrm xmlns:a="http://schemas.openxmlformats.org/drawingml/2006/main">
            <a:off x="619125" y="4029075"/>
            <a:ext cx="2857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263329"/>
                </a:solidFill>
                <a:latin typeface="Helvetica Neue"/>
                <a:ea typeface="Helvetica Neue"/>
                <a:cs typeface="Helvetica Neue"/>
              </a:defRPr>
            </a:pPr>
            <a:r>
              <a:rPr sz="6000" b="1">
                <a:solidFill>
                  <a:srgbClr val="263329"/>
                </a:solidFill>
                <a:latin typeface="Helvetica Neue"/>
                <a:ea typeface="Helvetica Neue"/>
                <a:cs typeface="Helvetica Neue"/>
              </a:rPr>
              <a:t>14</a:t>
            </a:r>
          </a:p>
        </p:txBody>
      </p:sp>
      <p:sp>
        <p:nvSpPr>
          <p:cNvPr id="7" name="">
            <a:extLst xmlns:a="http://schemas.openxmlformats.org/drawingml/2006/main">
              <a:ext uri="{FF2B5EF4-FFF2-40B4-BE49-F238E27FC236}">
                <a16:creationId xmlns:a16="http://schemas.microsoft.com/office/drawing/2014/main" id="{74366049-8665-4C7C-8D7C-FCFE6264A6EA}"/>
              </a:ext>
            </a:extLst>
          </p:cNvPr>
          <p:cNvSpPr>
            <a:spLocks xmlns:a="http://schemas.openxmlformats.org/drawingml/2006/main" noGrp="1"/>
          </p:cNvSpPr>
          <p:nvPr/>
        </p:nvSpPr>
        <p:spPr>
          <a:xfrm xmlns:a="http://schemas.openxmlformats.org/drawingml/2006/main">
            <a:off x="647700" y="49530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63329"/>
                </a:solidFill>
                <a:latin typeface="Helvetica Neue"/>
                <a:ea typeface="Helvetica Neue"/>
                <a:cs typeface="Helvetica Neue"/>
              </a:defRPr>
            </a:pPr>
            <a:r>
              <a:rPr sz="1875" b="0">
                <a:solidFill>
                  <a:srgbClr val="263329"/>
                </a:solidFill>
                <a:latin typeface="Helvetica Neue"/>
                <a:ea typeface="Helvetica Neue"/>
                <a:cs typeface="Helvetica Neue"/>
              </a:rPr>
              <a:t>units need more identifier evidence</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1c510d0016f4cac"/>
          <a:stretch xmlns:a="http://schemas.openxmlformats.org/drawingml/2006/main"/>
        </p:blipFill>
        <p:spPr>
          <a:xfrm xmlns:a="http://schemas.openxmlformats.org/drawingml/2006/main">
            <a:off x="5591175" y="2038350"/>
            <a:ext cx="4572000" cy="38290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251F788-52A1-413C-AB13-CC8D3F8964A4}"/>
              </a:ext>
            </a:extLst>
          </p:cNvPr>
          <p:cNvSpPr>
            <a:spLocks xmlns:a="http://schemas.openxmlformats.org/drawingml/2006/main" noGrp="1"/>
          </p:cNvSpPr>
          <p:nvPr/>
        </p:nvSpPr>
        <p:spPr>
          <a:xfrm xmlns:a="http://schemas.openxmlformats.org/drawingml/2006/main">
            <a:off x="647700" y="61912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715F"/>
                </a:solidFill>
                <a:latin typeface="Helvetica Neue"/>
                <a:ea typeface="Helvetica Neue"/>
                <a:cs typeface="Helvetica Neue"/>
              </a:defRPr>
            </a:pPr>
            <a:r>
              <a:rPr sz="1275" b="0">
                <a:solidFill>
                  <a:srgbClr val="66715F"/>
                </a:solidFill>
                <a:latin typeface="Helvetica Neue"/>
                <a:ea typeface="Helvetica Neue"/>
                <a:cs typeface="Helvetica Neue"/>
              </a:rPr>
              <a:t>Willow demo: 8 inventory lines, 218 units, 4 locations. Two selected catalog–lot pairs only.</a:t>
            </a:r>
          </a:p>
        </p:txBody>
      </p:sp>
    </p:spTree>
    <p:extLst>
      <p:ext uri="{BB962C8B-B14F-4D97-AF65-F5344CB8AC3E}">
        <p14:creationId xmlns:p14="http://schemas.microsoft.com/office/powerpoint/2010/main" val="1045795931"/>
      </p:ext>
    </p:extLst>
  </p:cSld>
</p:sld>
</file>

<file path=ppt/slides/slide3.xml><?xml version="1.0" encoding="utf-8"?>
<p:sld xmlns:p="http://schemas.openxmlformats.org/presentationml/2006/main">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77E82DB-C2D8-4A28-9C40-EC0E92587200}"/>
              </a:ext>
            </a:extLst>
          </p:cNvPr>
          <p:cNvSpPr>
            <a:spLocks xmlns:a="http://schemas.openxmlformats.org/drawingml/2006/main" noGrp="1"/>
          </p:cNvSpPr>
          <p:nvPr/>
        </p:nvSpPr>
        <p:spPr>
          <a:xfrm xmlns:a="http://schemas.openxmlformats.org/drawingml/2006/main">
            <a:off x="609600" y="2667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63329"/>
                </a:solidFill>
                <a:latin typeface="Helvetica Neue"/>
                <a:ea typeface="Helvetica Neue"/>
                <a:cs typeface="Helvetica Neue"/>
              </a:defRPr>
            </a:pPr>
            <a:r>
              <a:rPr sz="1650" b="1">
                <a:solidFill>
                  <a:srgbClr val="263329"/>
                </a:solidFill>
                <a:latin typeface="Helvetica Neue"/>
                <a:ea typeface="Helvetica Neue"/>
                <a:cs typeface="Helvetica Neue"/>
              </a:rPr>
              <a:t>lotlight</a:t>
            </a:r>
          </a:p>
        </p:txBody>
      </p:sp>
      <p:sp>
        <p:nvSpPr>
          <p:cNvPr id="2" name="">
            <a:extLst xmlns:a="http://schemas.openxmlformats.org/drawingml/2006/main">
              <a:ext uri="{FF2B5EF4-FFF2-40B4-BE49-F238E27FC236}">
                <a16:creationId xmlns:a16="http://schemas.microsoft.com/office/drawing/2014/main" id="{0383B63C-E5FF-4BF6-8047-DD7BA1DB34B2}"/>
              </a:ext>
            </a:extLst>
          </p:cNvPr>
          <p:cNvSpPr>
            <a:spLocks xmlns:a="http://schemas.openxmlformats.org/drawingml/2006/main" noGrp="1"/>
          </p:cNvSpPr>
          <p:nvPr/>
        </p:nvSpPr>
        <p:spPr>
          <a:xfrm xmlns:a="http://schemas.openxmlformats.org/drawingml/2006/main">
            <a:off x="10953750" y="285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715F"/>
                </a:solidFill>
                <a:latin typeface="Helvetica Neue"/>
                <a:ea typeface="Helvetica Neue"/>
                <a:cs typeface="Helvetica Neue"/>
              </a:defRPr>
            </a:pPr>
            <a:r>
              <a:rPr sz="1200" b="0">
                <a:solidFill>
                  <a:srgbClr val="66715F"/>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7BF06086-295F-4E43-A2DB-224401C33AAA}"/>
              </a:ext>
            </a:extLst>
          </p:cNvPr>
          <p:cNvSpPr>
            <a:spLocks xmlns:a="http://schemas.openxmlformats.org/drawingml/2006/main" noGrp="1"/>
          </p:cNvSpPr>
          <p:nvPr/>
        </p:nvSpPr>
        <p:spPr>
          <a:xfrm xmlns:a="http://schemas.openxmlformats.org/drawingml/2006/main">
            <a:off x="609600" y="895350"/>
            <a:ext cx="1081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3329"/>
                </a:solidFill>
                <a:latin typeface="Helvetica Neue"/>
                <a:ea typeface="Helvetica Neue"/>
                <a:cs typeface="Helvetica Neue"/>
              </a:defRPr>
            </a:pPr>
            <a:r>
              <a:rPr sz="3600" b="1">
                <a:solidFill>
                  <a:srgbClr val="263329"/>
                </a:solidFill>
                <a:latin typeface="Helvetica Neue"/>
                <a:ea typeface="Helvetica Neue"/>
                <a:cs typeface="Helvetica Neue"/>
              </a:rPr>
              <a:t>AI helps find candidates. People approve.</a:t>
            </a:r>
          </a:p>
        </p:txBody>
      </p:sp>
      <p:sp>
        <p:nvSpPr>
          <p:cNvPr id="4" name="">
            <a:extLst xmlns:a="http://schemas.openxmlformats.org/drawingml/2006/main">
              <a:ext uri="{FF2B5EF4-FFF2-40B4-BE49-F238E27FC236}">
                <a16:creationId xmlns:a16="http://schemas.microsoft.com/office/drawing/2014/main" id="{6E485E9F-53E1-4B2B-97AE-B682FA2D7A09}"/>
              </a:ext>
            </a:extLst>
          </p:cNvPr>
          <p:cNvSpPr>
            <a:spLocks xmlns:a="http://schemas.openxmlformats.org/drawingml/2006/main" noGrp="1"/>
          </p:cNvSpPr>
          <p:nvPr/>
        </p:nvSpPr>
        <p:spPr>
          <a:xfrm xmlns:a="http://schemas.openxmlformats.org/drawingml/2006/main">
            <a:off x="647700" y="22479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63329"/>
                </a:solidFill>
                <a:latin typeface="Helvetica Neue"/>
                <a:ea typeface="Helvetica Neue"/>
                <a:cs typeface="Helvetica Neue"/>
              </a:defRPr>
            </a:pPr>
            <a:r>
              <a:rPr sz="2550" b="1">
                <a:solidFill>
                  <a:srgbClr val="263329"/>
                </a:solidFill>
                <a:latin typeface="Helvetica Neue"/>
                <a:ea typeface="Helvetica Neue"/>
                <a:cs typeface="Helvetica Neue"/>
              </a:rPr>
              <a:t>Semantic search</a:t>
            </a:r>
          </a:p>
        </p:txBody>
      </p:sp>
      <p:sp>
        <p:nvSpPr>
          <p:cNvPr id="5" name="">
            <a:extLst xmlns:a="http://schemas.openxmlformats.org/drawingml/2006/main">
              <a:ext uri="{FF2B5EF4-FFF2-40B4-BE49-F238E27FC236}">
                <a16:creationId xmlns:a16="http://schemas.microsoft.com/office/drawing/2014/main" id="{53BF2438-DE60-4DE3-ABF3-3A0FE3EBB619}"/>
              </a:ext>
            </a:extLst>
          </p:cNvPr>
          <p:cNvSpPr>
            <a:spLocks xmlns:a="http://schemas.openxmlformats.org/drawingml/2006/main" noGrp="1"/>
          </p:cNvSpPr>
          <p:nvPr/>
        </p:nvSpPr>
        <p:spPr>
          <a:xfrm xmlns:a="http://schemas.openxmlformats.org/drawingml/2006/main">
            <a:off x="647700" y="2819400"/>
            <a:ext cx="4572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63329"/>
                </a:solidFill>
                <a:latin typeface="Helvetica Neue"/>
                <a:ea typeface="Helvetica Neue"/>
                <a:cs typeface="Helvetica Neue"/>
              </a:defRPr>
            </a:pPr>
            <a:r>
              <a:rPr sz="1875" b="0">
                <a:solidFill>
                  <a:srgbClr val="263329"/>
                </a:solidFill>
                <a:latin typeface="Helvetica Neue"/>
                <a:ea typeface="Helvetica Neue"/>
                <a:cs typeface="Helvetica Neue"/>
              </a:rPr>
              <a:t>Local MiniLM suggests candidates when product names differ.</a:t>
            </a:r>
          </a:p>
          <a:p xmlns:a="http://schemas.openxmlformats.org/drawingml/2006/main">
            <a:pPr>
              <a:defRPr sz="1875" b="0">
                <a:solidFill>
                  <a:srgbClr val="263329"/>
                </a:solidFill>
                <a:latin typeface="Helvetica Neue"/>
                <a:ea typeface="Helvetica Neue"/>
                <a:cs typeface="Helvetica Neue"/>
              </a:defRPr>
            </a:pPr>
            <a:r>
              <a:rPr sz="1875" b="0">
                <a:solidFill>
                  <a:srgbClr val="263329"/>
                </a:solidFill>
                <a:latin typeface="Helvetica Neue"/>
                <a:ea typeface="Helvetica Neue"/>
                <a:cs typeface="Helvetica Neue"/>
              </a:rPr>
              <a:t>No API key required.</a:t>
            </a:r>
          </a:p>
        </p:txBody>
      </p:sp>
      <p:sp>
        <p:nvSpPr>
          <p:cNvPr id="6" name="">
            <a:extLst xmlns:a="http://schemas.openxmlformats.org/drawingml/2006/main">
              <a:ext uri="{FF2B5EF4-FFF2-40B4-BE49-F238E27FC236}">
                <a16:creationId xmlns:a16="http://schemas.microsoft.com/office/drawing/2014/main" id="{32A8074E-38A6-4CDC-8880-EE49BD58794B}"/>
              </a:ext>
            </a:extLst>
          </p:cNvPr>
          <p:cNvSpPr>
            <a:spLocks xmlns:a="http://schemas.openxmlformats.org/drawingml/2006/main" noGrp="1"/>
          </p:cNvSpPr>
          <p:nvPr/>
        </p:nvSpPr>
        <p:spPr>
          <a:xfrm xmlns:a="http://schemas.openxmlformats.org/drawingml/2006/main">
            <a:off x="647700" y="410527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63329"/>
                </a:solidFill>
                <a:latin typeface="Helvetica Neue"/>
                <a:ea typeface="Helvetica Neue"/>
                <a:cs typeface="Helvetica Neue"/>
              </a:defRPr>
            </a:pPr>
            <a:r>
              <a:rPr sz="2550" b="1">
                <a:solidFill>
                  <a:srgbClr val="263329"/>
                </a:solidFill>
                <a:latin typeface="Helvetica Neue"/>
                <a:ea typeface="Helvetica Neue"/>
                <a:cs typeface="Helvetica Neue"/>
              </a:rPr>
              <a:t>Explicit matching rules</a:t>
            </a:r>
          </a:p>
        </p:txBody>
      </p:sp>
      <p:sp>
        <p:nvSpPr>
          <p:cNvPr id="7" name="">
            <a:extLst xmlns:a="http://schemas.openxmlformats.org/drawingml/2006/main">
              <a:ext uri="{FF2B5EF4-FFF2-40B4-BE49-F238E27FC236}">
                <a16:creationId xmlns:a16="http://schemas.microsoft.com/office/drawing/2014/main" id="{4603B821-4C38-4E2B-90F4-187E2574DE4D}"/>
              </a:ext>
            </a:extLst>
          </p:cNvPr>
          <p:cNvSpPr>
            <a:spLocks xmlns:a="http://schemas.openxmlformats.org/drawingml/2006/main" noGrp="1"/>
          </p:cNvSpPr>
          <p:nvPr/>
        </p:nvSpPr>
        <p:spPr>
          <a:xfrm xmlns:a="http://schemas.openxmlformats.org/drawingml/2006/main">
            <a:off x="647700" y="4686300"/>
            <a:ext cx="45529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63329"/>
                </a:solidFill>
                <a:latin typeface="Helvetica Neue"/>
                <a:ea typeface="Helvetica Neue"/>
                <a:cs typeface="Helvetica Neue"/>
              </a:defRPr>
            </a:pPr>
            <a:r>
              <a:rPr sz="1875" b="0">
                <a:solidFill>
                  <a:srgbClr val="263329"/>
                </a:solidFill>
                <a:latin typeface="Helvetica Neue"/>
                <a:ea typeface="Helvetica Neue"/>
                <a:cs typeface="Helvetica Neue"/>
              </a:rPr>
              <a:t>Manufacturer, catalog and the paired lot determine an identifier match.</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193dc93bd0845c1"/>
          <a:srcRect xmlns:a="http://schemas.openxmlformats.org/drawingml/2006/main" l="0" t="24705" r="0" b="24705"/>
          <a:stretch xmlns:a="http://schemas.openxmlformats.org/drawingml/2006/main">
            <a:fillRect l="0" t="0" r="0" b="0"/>
          </a:stretch>
        </p:blipFill>
        <p:spPr>
          <a:xfrm xmlns:a="http://schemas.openxmlformats.org/drawingml/2006/main">
            <a:off x="5572125" y="2181225"/>
            <a:ext cx="6000750" cy="3143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E5D1AC8-4DD0-432E-B6CB-6F7555714620}"/>
              </a:ext>
            </a:extLst>
          </p:cNvPr>
          <p:cNvSpPr>
            <a:spLocks xmlns:a="http://schemas.openxmlformats.org/drawingml/2006/main" noGrp="1"/>
          </p:cNvSpPr>
          <p:nvPr/>
        </p:nvSpPr>
        <p:spPr>
          <a:xfrm xmlns:a="http://schemas.openxmlformats.org/drawingml/2006/main">
            <a:off x="5734050" y="5381625"/>
            <a:ext cx="581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B55C36"/>
                </a:solidFill>
                <a:latin typeface="Helvetica Neue"/>
                <a:ea typeface="Helvetica Neue"/>
                <a:cs typeface="Helvetica Neue"/>
              </a:defRPr>
            </a:pPr>
            <a:r>
              <a:rPr sz="1575" b="1">
                <a:solidFill>
                  <a:srgbClr val="B55C36"/>
                </a:solidFill>
                <a:latin typeface="Helvetica Neue"/>
                <a:ea typeface="Helvetica Neue"/>
                <a:cs typeface="Helvetica Neue"/>
              </a:rPr>
              <a:t>Similarity cannot authorize action.</a:t>
            </a:r>
          </a:p>
        </p:txBody>
      </p:sp>
      <p:sp>
        <p:nvSpPr>
          <p:cNvPr id="10" name="">
            <a:extLst xmlns:a="http://schemas.openxmlformats.org/drawingml/2006/main">
              <a:ext uri="{FF2B5EF4-FFF2-40B4-BE49-F238E27FC236}">
                <a16:creationId xmlns:a16="http://schemas.microsoft.com/office/drawing/2014/main" id="{9DB883D0-ACEF-4420-B53E-F9B1E3991606}"/>
              </a:ext>
            </a:extLst>
          </p:cNvPr>
          <p:cNvSpPr>
            <a:spLocks xmlns:a="http://schemas.openxmlformats.org/drawingml/2006/main" noGrp="1"/>
          </p:cNvSpPr>
          <p:nvPr/>
        </p:nvSpPr>
        <p:spPr>
          <a:xfrm xmlns:a="http://schemas.openxmlformats.org/drawingml/2006/main">
            <a:off x="647700" y="58959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6715F"/>
                </a:solidFill>
                <a:latin typeface="Helvetica Neue"/>
                <a:ea typeface="Helvetica Neue"/>
                <a:cs typeface="Helvetica Neue"/>
              </a:defRPr>
            </a:pPr>
            <a:r>
              <a:rPr sz="1725" b="0">
                <a:solidFill>
                  <a:srgbClr val="66715F"/>
                </a:solidFill>
                <a:latin typeface="Helvetica Neue"/>
                <a:ea typeface="Helvetica Neue"/>
                <a:cs typeface="Helvetica Neue"/>
              </a:rPr>
              <a:t>A reviewer checks the source and approves the working scope before staff record a response.</a:t>
            </a:r>
          </a:p>
        </p:txBody>
      </p:sp>
    </p:spTree>
    <p:extLst>
      <p:ext uri="{BB962C8B-B14F-4D97-AF65-F5344CB8AC3E}">
        <p14:creationId xmlns:p14="http://schemas.microsoft.com/office/powerpoint/2010/main" val="50456875"/>
      </p:ext>
    </p:extLst>
  </p:cSld>
</p:sld>
</file>

<file path=ppt/slides/slide4.xml><?xml version="1.0" encoding="utf-8"?>
<p:sld xmlns:p="http://schemas.openxmlformats.org/presentationml/2006/main">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22DFC20-456B-4CE3-A403-0F17DFFFA00B}"/>
              </a:ext>
            </a:extLst>
          </p:cNvPr>
          <p:cNvSpPr>
            <a:spLocks xmlns:a="http://schemas.openxmlformats.org/drawingml/2006/main" noGrp="1"/>
          </p:cNvSpPr>
          <p:nvPr/>
        </p:nvSpPr>
        <p:spPr>
          <a:xfrm xmlns:a="http://schemas.openxmlformats.org/drawingml/2006/main">
            <a:off x="609600" y="2667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63329"/>
                </a:solidFill>
                <a:latin typeface="Helvetica Neue"/>
                <a:ea typeface="Helvetica Neue"/>
                <a:cs typeface="Helvetica Neue"/>
              </a:defRPr>
            </a:pPr>
            <a:r>
              <a:rPr sz="1650" b="1">
                <a:solidFill>
                  <a:srgbClr val="263329"/>
                </a:solidFill>
                <a:latin typeface="Helvetica Neue"/>
                <a:ea typeface="Helvetica Neue"/>
                <a:cs typeface="Helvetica Neue"/>
              </a:rPr>
              <a:t>lotlight</a:t>
            </a:r>
          </a:p>
        </p:txBody>
      </p:sp>
      <p:sp>
        <p:nvSpPr>
          <p:cNvPr id="2" name="">
            <a:extLst xmlns:a="http://schemas.openxmlformats.org/drawingml/2006/main">
              <a:ext uri="{FF2B5EF4-FFF2-40B4-BE49-F238E27FC236}">
                <a16:creationId xmlns:a16="http://schemas.microsoft.com/office/drawing/2014/main" id="{222C5DFC-4668-40AC-8652-2FCE1C1ADA06}"/>
              </a:ext>
            </a:extLst>
          </p:cNvPr>
          <p:cNvSpPr>
            <a:spLocks xmlns:a="http://schemas.openxmlformats.org/drawingml/2006/main" noGrp="1"/>
          </p:cNvSpPr>
          <p:nvPr/>
        </p:nvSpPr>
        <p:spPr>
          <a:xfrm xmlns:a="http://schemas.openxmlformats.org/drawingml/2006/main">
            <a:off x="10953750" y="285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715F"/>
                </a:solidFill>
                <a:latin typeface="Helvetica Neue"/>
                <a:ea typeface="Helvetica Neue"/>
                <a:cs typeface="Helvetica Neue"/>
              </a:defRPr>
            </a:pPr>
            <a:r>
              <a:rPr sz="1200" b="0">
                <a:solidFill>
                  <a:srgbClr val="66715F"/>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2E357A96-4ED4-4E90-AC0C-D02323EC0059}"/>
              </a:ext>
            </a:extLst>
          </p:cNvPr>
          <p:cNvSpPr>
            <a:spLocks xmlns:a="http://schemas.openxmlformats.org/drawingml/2006/main" noGrp="1"/>
          </p:cNvSpPr>
          <p:nvPr/>
        </p:nvSpPr>
        <p:spPr>
          <a:xfrm xmlns:a="http://schemas.openxmlformats.org/drawingml/2006/main">
            <a:off x="609600" y="895350"/>
            <a:ext cx="1081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3329"/>
                </a:solidFill>
                <a:latin typeface="Helvetica Neue"/>
                <a:ea typeface="Helvetica Neue"/>
                <a:cs typeface="Helvetica Neue"/>
              </a:defRPr>
            </a:pPr>
            <a:r>
              <a:rPr sz="3600" b="1">
                <a:solidFill>
                  <a:srgbClr val="263329"/>
                </a:solidFill>
                <a:latin typeface="Helvetica Neue"/>
                <a:ea typeface="Helvetica Neue"/>
                <a:cs typeface="Helvetica Neue"/>
              </a:rPr>
              <a:t>The review workflow</a:t>
            </a:r>
          </a:p>
        </p:txBody>
      </p:sp>
      <p:sp>
        <p:nvSpPr>
          <p:cNvPr id="4" name="">
            <a:extLst xmlns:a="http://schemas.openxmlformats.org/drawingml/2006/main">
              <a:ext uri="{FF2B5EF4-FFF2-40B4-BE49-F238E27FC236}">
                <a16:creationId xmlns:a16="http://schemas.microsoft.com/office/drawing/2014/main" id="{D540A2F0-9745-441B-B2CE-D0DB0E83EEC4}"/>
              </a:ext>
            </a:extLst>
          </p:cNvPr>
          <p:cNvSpPr>
            <a:spLocks xmlns:a="http://schemas.openxmlformats.org/drawingml/2006/main" noGrp="1"/>
          </p:cNvSpPr>
          <p:nvPr/>
        </p:nvSpPr>
        <p:spPr>
          <a:xfrm xmlns:a="http://schemas.openxmlformats.org/drawingml/2006/main">
            <a:off x="619125" y="2219325"/>
            <a:ext cx="742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B55C36"/>
                </a:solidFill>
                <a:latin typeface="Helvetica Neue"/>
                <a:ea typeface="Helvetica Neue"/>
                <a:cs typeface="Helvetica Neue"/>
              </a:defRPr>
            </a:pPr>
            <a:r>
              <a:rPr sz="2700" b="1">
                <a:solidFill>
                  <a:srgbClr val="B55C36"/>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0C52AADB-964A-42DB-956C-A8B25A49D419}"/>
              </a:ext>
            </a:extLst>
          </p:cNvPr>
          <p:cNvSpPr>
            <a:spLocks xmlns:a="http://schemas.openxmlformats.org/drawingml/2006/main" noGrp="1"/>
          </p:cNvSpPr>
          <p:nvPr/>
        </p:nvSpPr>
        <p:spPr>
          <a:xfrm xmlns:a="http://schemas.openxmlformats.org/drawingml/2006/main">
            <a:off x="1533525" y="2219325"/>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3329"/>
                </a:solidFill>
                <a:latin typeface="Helvetica Neue"/>
                <a:ea typeface="Helvetica Neue"/>
                <a:cs typeface="Helvetica Neue"/>
              </a:defRPr>
            </a:pPr>
            <a:r>
              <a:rPr sz="2175" b="1">
                <a:solidFill>
                  <a:srgbClr val="263329"/>
                </a:solidFill>
                <a:latin typeface="Helvetica Neue"/>
                <a:ea typeface="Helvetica Neue"/>
                <a:cs typeface="Helvetica Neue"/>
              </a:rPr>
              <a:t>Bring the evidence</a:t>
            </a:r>
          </a:p>
        </p:txBody>
      </p:sp>
      <p:sp>
        <p:nvSpPr>
          <p:cNvPr id="6" name="">
            <a:extLst xmlns:a="http://schemas.openxmlformats.org/drawingml/2006/main">
              <a:ext uri="{FF2B5EF4-FFF2-40B4-BE49-F238E27FC236}">
                <a16:creationId xmlns:a16="http://schemas.microsoft.com/office/drawing/2014/main" id="{2EA28D64-AB3F-4466-A0EA-6FE7D20798B8}"/>
              </a:ext>
            </a:extLst>
          </p:cNvPr>
          <p:cNvSpPr>
            <a:spLocks xmlns:a="http://schemas.openxmlformats.org/drawingml/2006/main" noGrp="1"/>
          </p:cNvSpPr>
          <p:nvPr/>
        </p:nvSpPr>
        <p:spPr>
          <a:xfrm xmlns:a="http://schemas.openxmlformats.org/drawingml/2006/main">
            <a:off x="1552575" y="2638425"/>
            <a:ext cx="981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63329"/>
                </a:solidFill>
                <a:latin typeface="Helvetica Neue"/>
                <a:ea typeface="Helvetica Neue"/>
                <a:cs typeface="Helvetica Neue"/>
              </a:defRPr>
            </a:pPr>
            <a:r>
              <a:rPr sz="1650" b="0">
                <a:solidFill>
                  <a:srgbClr val="263329"/>
                </a:solidFill>
                <a:latin typeface="Helvetica Neue"/>
                <a:ea typeface="Helvetica Neue"/>
                <a:cs typeface="Helvetica Neue"/>
              </a:rPr>
              <a:t>Import CSV and notice text. Transcribe PDF tables into checked labeled lines.</a:t>
            </a:r>
          </a:p>
        </p:txBody>
      </p:sp>
      <p:sp>
        <p:nvSpPr>
          <p:cNvPr id="7" name="">
            <a:extLst xmlns:a="http://schemas.openxmlformats.org/drawingml/2006/main">
              <a:ext uri="{FF2B5EF4-FFF2-40B4-BE49-F238E27FC236}">
                <a16:creationId xmlns:a16="http://schemas.microsoft.com/office/drawing/2014/main" id="{91A24D90-9509-495C-AD9A-03925A00BF49}"/>
              </a:ext>
            </a:extLst>
          </p:cNvPr>
          <p:cNvSpPr>
            <a:spLocks xmlns:a="http://schemas.openxmlformats.org/drawingml/2006/main" noGrp="1"/>
          </p:cNvSpPr>
          <p:nvPr/>
        </p:nvSpPr>
        <p:spPr>
          <a:xfrm xmlns:a="http://schemas.openxmlformats.org/drawingml/2006/main">
            <a:off x="619125" y="3105150"/>
            <a:ext cx="742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B55C36"/>
                </a:solidFill>
                <a:latin typeface="Helvetica Neue"/>
                <a:ea typeface="Helvetica Neue"/>
                <a:cs typeface="Helvetica Neue"/>
              </a:defRPr>
            </a:pPr>
            <a:r>
              <a:rPr sz="2700" b="1">
                <a:solidFill>
                  <a:srgbClr val="B55C36"/>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674BD8EE-F172-44E1-95C2-8E2E978A4966}"/>
              </a:ext>
            </a:extLst>
          </p:cNvPr>
          <p:cNvSpPr>
            <a:spLocks xmlns:a="http://schemas.openxmlformats.org/drawingml/2006/main" noGrp="1"/>
          </p:cNvSpPr>
          <p:nvPr/>
        </p:nvSpPr>
        <p:spPr>
          <a:xfrm xmlns:a="http://schemas.openxmlformats.org/drawingml/2006/main">
            <a:off x="1533525" y="3105150"/>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3329"/>
                </a:solidFill>
                <a:latin typeface="Helvetica Neue"/>
                <a:ea typeface="Helvetica Neue"/>
                <a:cs typeface="Helvetica Neue"/>
              </a:defRPr>
            </a:pPr>
            <a:r>
              <a:rPr sz="2175" b="1">
                <a:solidFill>
                  <a:srgbClr val="263329"/>
                </a:solidFill>
                <a:latin typeface="Helvetica Neue"/>
                <a:ea typeface="Helvetica Neue"/>
                <a:cs typeface="Helvetica Neue"/>
              </a:rPr>
              <a:t>Review the matches</a:t>
            </a:r>
          </a:p>
        </p:txBody>
      </p:sp>
      <p:sp>
        <p:nvSpPr>
          <p:cNvPr id="9" name="">
            <a:extLst xmlns:a="http://schemas.openxmlformats.org/drawingml/2006/main">
              <a:ext uri="{FF2B5EF4-FFF2-40B4-BE49-F238E27FC236}">
                <a16:creationId xmlns:a16="http://schemas.microsoft.com/office/drawing/2014/main" id="{4CCDD923-9794-47CF-8B9D-7496C4EE3FF5}"/>
              </a:ext>
            </a:extLst>
          </p:cNvPr>
          <p:cNvSpPr>
            <a:spLocks xmlns:a="http://schemas.openxmlformats.org/drawingml/2006/main" noGrp="1"/>
          </p:cNvSpPr>
          <p:nvPr/>
        </p:nvSpPr>
        <p:spPr>
          <a:xfrm xmlns:a="http://schemas.openxmlformats.org/drawingml/2006/main">
            <a:off x="1552575" y="3524250"/>
            <a:ext cx="981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63329"/>
                </a:solidFill>
                <a:latin typeface="Helvetica Neue"/>
                <a:ea typeface="Helvetica Neue"/>
                <a:cs typeface="Helvetica Neue"/>
              </a:defRPr>
            </a:pPr>
            <a:r>
              <a:rPr sz="1650" b="0">
                <a:solidFill>
                  <a:srgbClr val="263329"/>
                </a:solidFill>
                <a:latin typeface="Helvetica Neue"/>
                <a:ea typeface="Helvetica Neue"/>
                <a:cs typeface="Helvetica Neue"/>
              </a:rPr>
              <a:t>Inspect exact pairs and unresolved identifiers. Approve the source scope.</a:t>
            </a:r>
          </a:p>
        </p:txBody>
      </p:sp>
      <p:sp>
        <p:nvSpPr>
          <p:cNvPr id="10" name="">
            <a:extLst xmlns:a="http://schemas.openxmlformats.org/drawingml/2006/main">
              <a:ext uri="{FF2B5EF4-FFF2-40B4-BE49-F238E27FC236}">
                <a16:creationId xmlns:a16="http://schemas.microsoft.com/office/drawing/2014/main" id="{2E66842E-B196-42DC-888E-9DF702AFCFEF}"/>
              </a:ext>
            </a:extLst>
          </p:cNvPr>
          <p:cNvSpPr>
            <a:spLocks xmlns:a="http://schemas.openxmlformats.org/drawingml/2006/main" noGrp="1"/>
          </p:cNvSpPr>
          <p:nvPr/>
        </p:nvSpPr>
        <p:spPr>
          <a:xfrm xmlns:a="http://schemas.openxmlformats.org/drawingml/2006/main">
            <a:off x="619125" y="3990975"/>
            <a:ext cx="742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B55C36"/>
                </a:solidFill>
                <a:latin typeface="Helvetica Neue"/>
                <a:ea typeface="Helvetica Neue"/>
                <a:cs typeface="Helvetica Neue"/>
              </a:defRPr>
            </a:pPr>
            <a:r>
              <a:rPr sz="2700" b="1">
                <a:solidFill>
                  <a:srgbClr val="B55C36"/>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34639559-3A1B-4DB4-A983-4CC2CF770F75}"/>
              </a:ext>
            </a:extLst>
          </p:cNvPr>
          <p:cNvSpPr>
            <a:spLocks xmlns:a="http://schemas.openxmlformats.org/drawingml/2006/main" noGrp="1"/>
          </p:cNvSpPr>
          <p:nvPr/>
        </p:nvSpPr>
        <p:spPr>
          <a:xfrm xmlns:a="http://schemas.openxmlformats.org/drawingml/2006/main">
            <a:off x="1533525" y="3990975"/>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3329"/>
                </a:solidFill>
                <a:latin typeface="Helvetica Neue"/>
                <a:ea typeface="Helvetica Neue"/>
                <a:cs typeface="Helvetica Neue"/>
              </a:defRPr>
            </a:pPr>
            <a:r>
              <a:rPr sz="2175" b="1">
                <a:solidFill>
                  <a:srgbClr val="263329"/>
                </a:solidFill>
                <a:latin typeface="Helvetica Neue"/>
                <a:ea typeface="Helvetica Neue"/>
                <a:cs typeface="Helvetica Neue"/>
              </a:rPr>
              <a:t>Record the response</a:t>
            </a:r>
          </a:p>
        </p:txBody>
      </p:sp>
      <p:sp>
        <p:nvSpPr>
          <p:cNvPr id="12" name="">
            <a:extLst xmlns:a="http://schemas.openxmlformats.org/drawingml/2006/main">
              <a:ext uri="{FF2B5EF4-FFF2-40B4-BE49-F238E27FC236}">
                <a16:creationId xmlns:a16="http://schemas.microsoft.com/office/drawing/2014/main" id="{2673A4F9-D2C6-4772-8384-D5A790DC22F8}"/>
              </a:ext>
            </a:extLst>
          </p:cNvPr>
          <p:cNvSpPr>
            <a:spLocks xmlns:a="http://schemas.openxmlformats.org/drawingml/2006/main" noGrp="1"/>
          </p:cNvSpPr>
          <p:nvPr/>
        </p:nvSpPr>
        <p:spPr>
          <a:xfrm xmlns:a="http://schemas.openxmlformats.org/drawingml/2006/main">
            <a:off x="1552575" y="4410075"/>
            <a:ext cx="981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63329"/>
                </a:solidFill>
                <a:latin typeface="Helvetica Neue"/>
                <a:ea typeface="Helvetica Neue"/>
                <a:cs typeface="Helvetica Neue"/>
              </a:defRPr>
            </a:pPr>
            <a:r>
              <a:rPr sz="1650" b="0">
                <a:solidFill>
                  <a:srgbClr val="263329"/>
                </a:solidFill>
                <a:latin typeface="Helvetica Neue"/>
                <a:ea typeface="Helvetica Neue"/>
                <a:cs typeface="Helvetica Neue"/>
              </a:rPr>
              <a:t>Name the responsible person. Account for the full quantity with evidence.</a:t>
            </a:r>
          </a:p>
        </p:txBody>
      </p:sp>
      <p:sp>
        <p:nvSpPr>
          <p:cNvPr id="13" name="">
            <a:extLst xmlns:a="http://schemas.openxmlformats.org/drawingml/2006/main">
              <a:ext uri="{FF2B5EF4-FFF2-40B4-BE49-F238E27FC236}">
                <a16:creationId xmlns:a16="http://schemas.microsoft.com/office/drawing/2014/main" id="{6533596A-CF73-44AB-8E7C-EECDA48EE222}"/>
              </a:ext>
            </a:extLst>
          </p:cNvPr>
          <p:cNvSpPr>
            <a:spLocks xmlns:a="http://schemas.openxmlformats.org/drawingml/2006/main" noGrp="1"/>
          </p:cNvSpPr>
          <p:nvPr/>
        </p:nvSpPr>
        <p:spPr>
          <a:xfrm xmlns:a="http://schemas.openxmlformats.org/drawingml/2006/main">
            <a:off x="619125" y="4876800"/>
            <a:ext cx="742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B55C36"/>
                </a:solidFill>
                <a:latin typeface="Helvetica Neue"/>
                <a:ea typeface="Helvetica Neue"/>
                <a:cs typeface="Helvetica Neue"/>
              </a:defRPr>
            </a:pPr>
            <a:r>
              <a:rPr sz="2700" b="1">
                <a:solidFill>
                  <a:srgbClr val="B55C36"/>
                </a:solidFill>
                <a:latin typeface="Helvetica Neue"/>
                <a:ea typeface="Helvetica Neue"/>
                <a:cs typeface="Helvetica Neue"/>
              </a:rPr>
              <a:t>04</a:t>
            </a:r>
          </a:p>
        </p:txBody>
      </p:sp>
      <p:sp>
        <p:nvSpPr>
          <p:cNvPr id="14" name="">
            <a:extLst xmlns:a="http://schemas.openxmlformats.org/drawingml/2006/main">
              <a:ext uri="{FF2B5EF4-FFF2-40B4-BE49-F238E27FC236}">
                <a16:creationId xmlns:a16="http://schemas.microsoft.com/office/drawing/2014/main" id="{516DBD94-B592-4163-8F70-77C1AEF949A2}"/>
              </a:ext>
            </a:extLst>
          </p:cNvPr>
          <p:cNvSpPr>
            <a:spLocks xmlns:a="http://schemas.openxmlformats.org/drawingml/2006/main" noGrp="1"/>
          </p:cNvSpPr>
          <p:nvPr/>
        </p:nvSpPr>
        <p:spPr>
          <a:xfrm xmlns:a="http://schemas.openxmlformats.org/drawingml/2006/main">
            <a:off x="1533525" y="4876800"/>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3329"/>
                </a:solidFill>
                <a:latin typeface="Helvetica Neue"/>
                <a:ea typeface="Helvetica Neue"/>
                <a:cs typeface="Helvetica Neue"/>
              </a:defRPr>
            </a:pPr>
            <a:r>
              <a:rPr sz="2175" b="1">
                <a:solidFill>
                  <a:srgbClr val="263329"/>
                </a:solidFill>
                <a:latin typeface="Helvetica Neue"/>
                <a:ea typeface="Helvetica Neue"/>
                <a:cs typeface="Helvetica Neue"/>
              </a:rPr>
              <a:t>Keep the record</a:t>
            </a:r>
          </a:p>
        </p:txBody>
      </p:sp>
      <p:sp>
        <p:nvSpPr>
          <p:cNvPr id="15" name="">
            <a:extLst xmlns:a="http://schemas.openxmlformats.org/drawingml/2006/main">
              <a:ext uri="{FF2B5EF4-FFF2-40B4-BE49-F238E27FC236}">
                <a16:creationId xmlns:a16="http://schemas.microsoft.com/office/drawing/2014/main" id="{5650FE12-ABC4-4294-A300-00B5D0E723B3}"/>
              </a:ext>
            </a:extLst>
          </p:cNvPr>
          <p:cNvSpPr>
            <a:spLocks xmlns:a="http://schemas.openxmlformats.org/drawingml/2006/main" noGrp="1"/>
          </p:cNvSpPr>
          <p:nvPr/>
        </p:nvSpPr>
        <p:spPr>
          <a:xfrm xmlns:a="http://schemas.openxmlformats.org/drawingml/2006/main">
            <a:off x="1552575" y="5295900"/>
            <a:ext cx="981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63329"/>
                </a:solidFill>
                <a:latin typeface="Helvetica Neue"/>
                <a:ea typeface="Helvetica Neue"/>
                <a:cs typeface="Helvetica Neue"/>
              </a:defRPr>
            </a:pPr>
            <a:r>
              <a:rPr sz="1650" b="0">
                <a:solidFill>
                  <a:srgbClr val="263329"/>
                </a:solidFill>
                <a:latin typeface="Helvetica Neue"/>
                <a:ea typeface="Helvetica Neue"/>
                <a:cs typeface="Helvetica Neue"/>
              </a:rPr>
              <a:t>Save under a signed-in account. Export JSON, CSV or a printable audit.</a:t>
            </a:r>
          </a:p>
        </p:txBody>
      </p:sp>
      <p:sp>
        <p:nvSpPr>
          <p:cNvPr id="16" name="">
            <a:extLst xmlns:a="http://schemas.openxmlformats.org/drawingml/2006/main">
              <a:ext uri="{FF2B5EF4-FFF2-40B4-BE49-F238E27FC236}">
                <a16:creationId xmlns:a16="http://schemas.microsoft.com/office/drawing/2014/main" id="{97929EBE-612A-4991-B845-7E8B848D6BD3}"/>
              </a:ext>
            </a:extLst>
          </p:cNvPr>
          <p:cNvSpPr>
            <a:spLocks xmlns:a="http://schemas.openxmlformats.org/drawingml/2006/main" noGrp="1"/>
          </p:cNvSpPr>
          <p:nvPr/>
        </p:nvSpPr>
        <p:spPr>
          <a:xfrm xmlns:a="http://schemas.openxmlformats.org/drawingml/2006/main">
            <a:off x="1552575" y="6019800"/>
            <a:ext cx="9763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15F"/>
                </a:solidFill>
                <a:latin typeface="Helvetica Neue"/>
                <a:ea typeface="Helvetica Neue"/>
                <a:cs typeface="Helvetica Neue"/>
              </a:defRPr>
            </a:pPr>
            <a:r>
              <a:rPr sz="1425" b="0">
                <a:solidFill>
                  <a:srgbClr val="66715F"/>
                </a:solidFill>
                <a:latin typeface="Helvetica Neue"/>
                <a:ea typeface="Helvetica Neue"/>
                <a:cs typeface="Helvetica Neue"/>
              </a:rPr>
              <a:t>Firebase Auth for sign-in. Cloud Run API with Firestore storage.</a:t>
            </a:r>
          </a:p>
          <a:p xmlns:a="http://schemas.openxmlformats.org/drawingml/2006/main">
            <a:pPr>
              <a:defRPr sz="1425" b="0">
                <a:solidFill>
                  <a:srgbClr val="66715F"/>
                </a:solidFill>
                <a:latin typeface="Helvetica Neue"/>
                <a:ea typeface="Helvetica Neue"/>
                <a:cs typeface="Helvetica Neue"/>
              </a:defRPr>
            </a:pPr>
            <a:r>
              <a:rPr sz="1425" b="0">
                <a:solidFill>
                  <a:srgbClr val="66715F"/>
                </a:solidFill>
                <a:latin typeface="Helvetica Neue"/>
                <a:ea typeface="Helvetica Neue"/>
                <a:cs typeface="Helvetica Neue"/>
              </a:rPr>
              <a:t>Immutable source and inventory snapshots preserve each response’s inputs.</a:t>
            </a:r>
          </a:p>
        </p:txBody>
      </p:sp>
    </p:spTree>
    <p:extLst>
      <p:ext uri="{BB962C8B-B14F-4D97-AF65-F5344CB8AC3E}">
        <p14:creationId xmlns:p14="http://schemas.microsoft.com/office/powerpoint/2010/main" val="11393659"/>
      </p:ext>
    </p:extLst>
  </p:cSld>
</p:sld>
</file>

<file path=ppt/slides/slide5.xml><?xml version="1.0" encoding="utf-8"?>
<p:sld xmlns:p="http://schemas.openxmlformats.org/presentationml/2006/main">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2861BA4-D924-4138-9889-2A5F63D9A6FA}"/>
              </a:ext>
            </a:extLst>
          </p:cNvPr>
          <p:cNvSpPr>
            <a:spLocks xmlns:a="http://schemas.openxmlformats.org/drawingml/2006/main" noGrp="1"/>
          </p:cNvSpPr>
          <p:nvPr/>
        </p:nvSpPr>
        <p:spPr>
          <a:xfrm xmlns:a="http://schemas.openxmlformats.org/drawingml/2006/main">
            <a:off x="609600" y="2667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63329"/>
                </a:solidFill>
                <a:latin typeface="Helvetica Neue"/>
                <a:ea typeface="Helvetica Neue"/>
                <a:cs typeface="Helvetica Neue"/>
              </a:defRPr>
            </a:pPr>
            <a:r>
              <a:rPr sz="1650" b="1">
                <a:solidFill>
                  <a:srgbClr val="263329"/>
                </a:solidFill>
                <a:latin typeface="Helvetica Neue"/>
                <a:ea typeface="Helvetica Neue"/>
                <a:cs typeface="Helvetica Neue"/>
              </a:rPr>
              <a:t>lotlight</a:t>
            </a:r>
          </a:p>
        </p:txBody>
      </p:sp>
      <p:sp>
        <p:nvSpPr>
          <p:cNvPr id="2" name="">
            <a:extLst xmlns:a="http://schemas.openxmlformats.org/drawingml/2006/main">
              <a:ext uri="{FF2B5EF4-FFF2-40B4-BE49-F238E27FC236}">
                <a16:creationId xmlns:a16="http://schemas.microsoft.com/office/drawing/2014/main" id="{8AD5F327-0C03-4A32-9720-D72149841B60}"/>
              </a:ext>
            </a:extLst>
          </p:cNvPr>
          <p:cNvSpPr>
            <a:spLocks xmlns:a="http://schemas.openxmlformats.org/drawingml/2006/main" noGrp="1"/>
          </p:cNvSpPr>
          <p:nvPr/>
        </p:nvSpPr>
        <p:spPr>
          <a:xfrm xmlns:a="http://schemas.openxmlformats.org/drawingml/2006/main">
            <a:off x="10953750" y="285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715F"/>
                </a:solidFill>
                <a:latin typeface="Helvetica Neue"/>
                <a:ea typeface="Helvetica Neue"/>
                <a:cs typeface="Helvetica Neue"/>
              </a:defRPr>
            </a:pPr>
            <a:r>
              <a:rPr sz="1200" b="0">
                <a:solidFill>
                  <a:srgbClr val="66715F"/>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7C56DD96-76D3-4466-9CF8-EBACEAC6B98F}"/>
              </a:ext>
            </a:extLst>
          </p:cNvPr>
          <p:cNvSpPr>
            <a:spLocks xmlns:a="http://schemas.openxmlformats.org/drawingml/2006/main" noGrp="1"/>
          </p:cNvSpPr>
          <p:nvPr/>
        </p:nvSpPr>
        <p:spPr>
          <a:xfrm xmlns:a="http://schemas.openxmlformats.org/drawingml/2006/main">
            <a:off x="609600" y="895350"/>
            <a:ext cx="1081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3329"/>
                </a:solidFill>
                <a:latin typeface="Helvetica Neue"/>
                <a:ea typeface="Helvetica Neue"/>
                <a:cs typeface="Helvetica Neue"/>
              </a:defRPr>
            </a:pPr>
            <a:r>
              <a:rPr sz="3600" b="1">
                <a:solidFill>
                  <a:srgbClr val="263329"/>
                </a:solidFill>
                <a:latin typeface="Helvetica Neue"/>
                <a:ea typeface="Helvetica Neue"/>
                <a:cs typeface="Helvetica Neue"/>
              </a:rPr>
              <a:t>A small-clinic business hypothesis</a:t>
            </a:r>
          </a:p>
        </p:txBody>
      </p:sp>
      <p:sp>
        <p:nvSpPr>
          <p:cNvPr id="4" name="">
            <a:extLst xmlns:a="http://schemas.openxmlformats.org/drawingml/2006/main">
              <a:ext uri="{FF2B5EF4-FFF2-40B4-BE49-F238E27FC236}">
                <a16:creationId xmlns:a16="http://schemas.microsoft.com/office/drawing/2014/main" id="{B9C743F7-AEB4-4206-B616-DB0724B71073}"/>
              </a:ext>
            </a:extLst>
          </p:cNvPr>
          <p:cNvSpPr>
            <a:spLocks xmlns:a="http://schemas.openxmlformats.org/drawingml/2006/main" noGrp="1"/>
          </p:cNvSpPr>
          <p:nvPr/>
        </p:nvSpPr>
        <p:spPr>
          <a:xfrm xmlns:a="http://schemas.openxmlformats.org/drawingml/2006/main">
            <a:off x="609600" y="2124075"/>
            <a:ext cx="44291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650" b="1">
                <a:solidFill>
                  <a:srgbClr val="263329"/>
                </a:solidFill>
                <a:latin typeface="Helvetica Neue"/>
                <a:ea typeface="Helvetica Neue"/>
                <a:cs typeface="Helvetica Neue"/>
              </a:defRPr>
            </a:pPr>
            <a:r>
              <a:rPr sz="7650" b="1">
                <a:solidFill>
                  <a:srgbClr val="263329"/>
                </a:solidFill>
                <a:latin typeface="Helvetica Neue"/>
                <a:ea typeface="Helvetica Neue"/>
                <a:cs typeface="Helvetica Neue"/>
              </a:rPr>
              <a:t>$149</a:t>
            </a:r>
          </a:p>
        </p:txBody>
      </p:sp>
      <p:sp>
        <p:nvSpPr>
          <p:cNvPr id="5" name="">
            <a:extLst xmlns:a="http://schemas.openxmlformats.org/drawingml/2006/main">
              <a:ext uri="{FF2B5EF4-FFF2-40B4-BE49-F238E27FC236}">
                <a16:creationId xmlns:a16="http://schemas.microsoft.com/office/drawing/2014/main" id="{CDC3D1DE-7223-498F-8614-5F6B76A630C1}"/>
              </a:ext>
            </a:extLst>
          </p:cNvPr>
          <p:cNvSpPr>
            <a:spLocks xmlns:a="http://schemas.openxmlformats.org/drawingml/2006/main" noGrp="1"/>
          </p:cNvSpPr>
          <p:nvPr/>
        </p:nvSpPr>
        <p:spPr>
          <a:xfrm xmlns:a="http://schemas.openxmlformats.org/drawingml/2006/main">
            <a:off x="647700" y="3381375"/>
            <a:ext cx="443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329"/>
                </a:solidFill>
                <a:latin typeface="Helvetica Neue"/>
                <a:ea typeface="Helvetica Neue"/>
                <a:cs typeface="Helvetica Neue"/>
              </a:defRPr>
            </a:pPr>
            <a:r>
              <a:rPr sz="2100" b="0">
                <a:solidFill>
                  <a:srgbClr val="263329"/>
                </a:solidFill>
                <a:latin typeface="Helvetica Neue"/>
                <a:ea typeface="Helvetica Neue"/>
                <a:cs typeface="Helvetica Neue"/>
              </a:rPr>
              <a:t>per site / month</a:t>
            </a:r>
          </a:p>
        </p:txBody>
      </p:sp>
      <p:sp>
        <p:nvSpPr>
          <p:cNvPr id="6" name="">
            <a:extLst xmlns:a="http://schemas.openxmlformats.org/drawingml/2006/main">
              <a:ext uri="{FF2B5EF4-FFF2-40B4-BE49-F238E27FC236}">
                <a16:creationId xmlns:a16="http://schemas.microsoft.com/office/drawing/2014/main" id="{9EAFC12B-F7DC-42A4-86FB-836256084FBB}"/>
              </a:ext>
            </a:extLst>
          </p:cNvPr>
          <p:cNvSpPr>
            <a:spLocks xmlns:a="http://schemas.openxmlformats.org/drawingml/2006/main" noGrp="1"/>
          </p:cNvSpPr>
          <p:nvPr/>
        </p:nvSpPr>
        <p:spPr>
          <a:xfrm xmlns:a="http://schemas.openxmlformats.org/drawingml/2006/main">
            <a:off x="647700" y="390525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55C36"/>
                </a:solidFill>
                <a:latin typeface="Helvetica Neue"/>
                <a:ea typeface="Helvetica Neue"/>
                <a:cs typeface="Helvetica Neue"/>
              </a:defRPr>
            </a:pPr>
            <a:r>
              <a:rPr sz="1650" b="1">
                <a:solidFill>
                  <a:srgbClr val="B55C36"/>
                </a:solidFill>
                <a:latin typeface="Helvetica Neue"/>
                <a:ea typeface="Helvetica Neue"/>
                <a:cs typeface="Helvetica Neue"/>
              </a:rPr>
              <a:t>Proposed price, not validated</a:t>
            </a:r>
          </a:p>
        </p:txBody>
      </p:sp>
      <p:sp>
        <p:nvSpPr>
          <p:cNvPr id="7" name="">
            <a:extLst xmlns:a="http://schemas.openxmlformats.org/drawingml/2006/main">
              <a:ext uri="{FF2B5EF4-FFF2-40B4-BE49-F238E27FC236}">
                <a16:creationId xmlns:a16="http://schemas.microsoft.com/office/drawing/2014/main" id="{77E96EFE-4556-41DD-AAAB-F746FAF3D5D8}"/>
              </a:ext>
            </a:extLst>
          </p:cNvPr>
          <p:cNvSpPr>
            <a:spLocks xmlns:a="http://schemas.openxmlformats.org/drawingml/2006/main" noGrp="1"/>
          </p:cNvSpPr>
          <p:nvPr/>
        </p:nvSpPr>
        <p:spPr>
          <a:xfrm xmlns:a="http://schemas.openxmlformats.org/drawingml/2006/main">
            <a:off x="5857875" y="2171700"/>
            <a:ext cx="5715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63329"/>
                </a:solidFill>
                <a:latin typeface="Helvetica Neue"/>
                <a:ea typeface="Helvetica Neue"/>
                <a:cs typeface="Helvetica Neue"/>
              </a:defRPr>
            </a:pPr>
            <a:r>
              <a:rPr sz="3000" b="1">
                <a:solidFill>
                  <a:srgbClr val="263329"/>
                </a:solidFill>
                <a:latin typeface="Helvetica Neue"/>
                <a:ea typeface="Helvetica Neue"/>
                <a:cs typeface="Helvetica Neue"/>
              </a:rPr>
              <a:t>5 hours × $30 = $150</a:t>
            </a:r>
          </a:p>
        </p:txBody>
      </p:sp>
      <p:sp>
        <p:nvSpPr>
          <p:cNvPr id="8" name="">
            <a:extLst xmlns:a="http://schemas.openxmlformats.org/drawingml/2006/main">
              <a:ext uri="{FF2B5EF4-FFF2-40B4-BE49-F238E27FC236}">
                <a16:creationId xmlns:a16="http://schemas.microsoft.com/office/drawing/2014/main" id="{52B800AD-590A-4700-9F9C-FD3B4BC420CA}"/>
              </a:ext>
            </a:extLst>
          </p:cNvPr>
          <p:cNvSpPr>
            <a:spLocks xmlns:a="http://schemas.openxmlformats.org/drawingml/2006/main" noGrp="1"/>
          </p:cNvSpPr>
          <p:nvPr/>
        </p:nvSpPr>
        <p:spPr>
          <a:xfrm xmlns:a="http://schemas.openxmlformats.org/drawingml/2006/main">
            <a:off x="5876925" y="2962275"/>
            <a:ext cx="52863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63329"/>
                </a:solidFill>
                <a:latin typeface="Helvetica Neue"/>
                <a:ea typeface="Helvetica Neue"/>
                <a:cs typeface="Helvetica Neue"/>
              </a:defRPr>
            </a:pPr>
            <a:r>
              <a:rPr sz="2025" b="0">
                <a:solidFill>
                  <a:srgbClr val="263329"/>
                </a:solidFill>
                <a:latin typeface="Helvetica Neue"/>
                <a:ea typeface="Helvetica Neue"/>
                <a:cs typeface="Helvetica Neue"/>
              </a:rPr>
              <a:t>Illustrative monthly staff time value.</a:t>
            </a:r>
          </a:p>
          <a:p xmlns:a="http://schemas.openxmlformats.org/drawingml/2006/main">
            <a:pPr>
              <a:defRPr sz="2025" b="0">
                <a:solidFill>
                  <a:srgbClr val="263329"/>
                </a:solidFill>
                <a:latin typeface="Helvetica Neue"/>
                <a:ea typeface="Helvetica Neue"/>
                <a:cs typeface="Helvetica Neue"/>
              </a:defRPr>
            </a:pPr>
            <a:r>
              <a:rPr sz="2025" b="0">
                <a:solidFill>
                  <a:srgbClr val="263329"/>
                </a:solidFill>
                <a:latin typeface="Helvetica Neue"/>
                <a:ea typeface="Helvetica Neue"/>
                <a:cs typeface="Helvetica Neue"/>
              </a:rPr>
              <a:t>The pilot must measure time saved and willingness to pay.</a:t>
            </a:r>
          </a:p>
        </p:txBody>
      </p:sp>
      <p:sp>
        <p:nvSpPr>
          <p:cNvPr id="9" name="">
            <a:extLst xmlns:a="http://schemas.openxmlformats.org/drawingml/2006/main">
              <a:ext uri="{FF2B5EF4-FFF2-40B4-BE49-F238E27FC236}">
                <a16:creationId xmlns:a16="http://schemas.microsoft.com/office/drawing/2014/main" id="{9E073C1A-FAE2-41CE-ACBF-CEBBF1C3073F}"/>
              </a:ext>
            </a:extLst>
          </p:cNvPr>
          <p:cNvSpPr>
            <a:spLocks xmlns:a="http://schemas.openxmlformats.org/drawingml/2006/main" noGrp="1"/>
          </p:cNvSpPr>
          <p:nvPr/>
        </p:nvSpPr>
        <p:spPr>
          <a:xfrm xmlns:a="http://schemas.openxmlformats.org/drawingml/2006/main">
            <a:off x="647700" y="487680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63329"/>
                </a:solidFill>
                <a:latin typeface="Helvetica Neue"/>
                <a:ea typeface="Helvetica Neue"/>
                <a:cs typeface="Helvetica Neue"/>
              </a:defRPr>
            </a:pPr>
            <a:r>
              <a:rPr sz="2100" b="1">
                <a:solidFill>
                  <a:srgbClr val="263329"/>
                </a:solidFill>
                <a:latin typeface="Helvetica Neue"/>
                <a:ea typeface="Helvetica Neue"/>
                <a:cs typeface="Helvetica Neue"/>
              </a:rPr>
              <a:t>Buyer: clinic operations manager</a:t>
            </a:r>
          </a:p>
        </p:txBody>
      </p:sp>
      <p:sp>
        <p:nvSpPr>
          <p:cNvPr id="10" name="">
            <a:extLst xmlns:a="http://schemas.openxmlformats.org/drawingml/2006/main">
              <a:ext uri="{FF2B5EF4-FFF2-40B4-BE49-F238E27FC236}">
                <a16:creationId xmlns:a16="http://schemas.microsoft.com/office/drawing/2014/main" id="{8121C824-1048-45BF-8AF5-67C5D2B008CE}"/>
              </a:ext>
            </a:extLst>
          </p:cNvPr>
          <p:cNvSpPr>
            <a:spLocks xmlns:a="http://schemas.openxmlformats.org/drawingml/2006/main" noGrp="1"/>
          </p:cNvSpPr>
          <p:nvPr/>
        </p:nvSpPr>
        <p:spPr>
          <a:xfrm xmlns:a="http://schemas.openxmlformats.org/drawingml/2006/main">
            <a:off x="647700" y="53911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63329"/>
                </a:solidFill>
                <a:latin typeface="Helvetica Neue"/>
                <a:ea typeface="Helvetica Neue"/>
                <a:cs typeface="Helvetica Neue"/>
              </a:defRPr>
            </a:pPr>
            <a:r>
              <a:rPr sz="1875" b="0">
                <a:solidFill>
                  <a:srgbClr val="263329"/>
                </a:solidFill>
                <a:latin typeface="Helvetica Neue"/>
                <a:ea typeface="Helvetica Neue"/>
                <a:cs typeface="Helvetica Neue"/>
              </a:rPr>
              <a:t>ECRI already offers enterprise recall workflows and inventory matching.</a:t>
            </a:r>
          </a:p>
          <a:p xmlns:a="http://schemas.openxmlformats.org/drawingml/2006/main">
            <a:pPr>
              <a:defRPr sz="1875" b="0">
                <a:solidFill>
                  <a:srgbClr val="263329"/>
                </a:solidFill>
                <a:latin typeface="Helvetica Neue"/>
                <a:ea typeface="Helvetica Neue"/>
                <a:cs typeface="Helvetica Neue"/>
              </a:defRPr>
            </a:pPr>
            <a:r>
              <a:rPr sz="1875" b="0">
                <a:solidFill>
                  <a:srgbClr val="263329"/>
                </a:solidFill>
                <a:latin typeface="Helvetica Neue"/>
                <a:ea typeface="Helvetica Neue"/>
                <a:cs typeface="Helvetica Neue"/>
              </a:rPr>
              <a:t>Our wedge to test: lightweight setup for clinics working from spreadsheets.</a:t>
            </a:r>
          </a:p>
        </p:txBody>
      </p:sp>
    </p:spTree>
    <p:extLst>
      <p:ext uri="{BB962C8B-B14F-4D97-AF65-F5344CB8AC3E}">
        <p14:creationId xmlns:p14="http://schemas.microsoft.com/office/powerpoint/2010/main" val="399749672"/>
      </p:ext>
    </p:extLst>
  </p:cSld>
</p:sld>
</file>

<file path=ppt/slides/slide6.xml><?xml version="1.0" encoding="utf-8"?>
<p:sld xmlns:p="http://schemas.openxmlformats.org/presentationml/2006/main">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491E99F-6DD6-4F2C-9BFE-2742871B1976}"/>
              </a:ext>
            </a:extLst>
          </p:cNvPr>
          <p:cNvSpPr>
            <a:spLocks xmlns:a="http://schemas.openxmlformats.org/drawingml/2006/main" noGrp="1"/>
          </p:cNvSpPr>
          <p:nvPr/>
        </p:nvSpPr>
        <p:spPr>
          <a:xfrm xmlns:a="http://schemas.openxmlformats.org/drawingml/2006/main">
            <a:off x="609600" y="2667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63329"/>
                </a:solidFill>
                <a:latin typeface="Helvetica Neue"/>
                <a:ea typeface="Helvetica Neue"/>
                <a:cs typeface="Helvetica Neue"/>
              </a:defRPr>
            </a:pPr>
            <a:r>
              <a:rPr sz="1650" b="1">
                <a:solidFill>
                  <a:srgbClr val="263329"/>
                </a:solidFill>
                <a:latin typeface="Helvetica Neue"/>
                <a:ea typeface="Helvetica Neue"/>
                <a:cs typeface="Helvetica Neue"/>
              </a:rPr>
              <a:t>lotlight</a:t>
            </a:r>
          </a:p>
        </p:txBody>
      </p:sp>
      <p:sp>
        <p:nvSpPr>
          <p:cNvPr id="2" name="">
            <a:extLst xmlns:a="http://schemas.openxmlformats.org/drawingml/2006/main">
              <a:ext uri="{FF2B5EF4-FFF2-40B4-BE49-F238E27FC236}">
                <a16:creationId xmlns:a16="http://schemas.microsoft.com/office/drawing/2014/main" id="{7ACEF5B9-9030-4B6F-81BF-E688783A87C5}"/>
              </a:ext>
            </a:extLst>
          </p:cNvPr>
          <p:cNvSpPr>
            <a:spLocks xmlns:a="http://schemas.openxmlformats.org/drawingml/2006/main" noGrp="1"/>
          </p:cNvSpPr>
          <p:nvPr/>
        </p:nvSpPr>
        <p:spPr>
          <a:xfrm xmlns:a="http://schemas.openxmlformats.org/drawingml/2006/main">
            <a:off x="10953750" y="285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715F"/>
                </a:solidFill>
                <a:latin typeface="Helvetica Neue"/>
                <a:ea typeface="Helvetica Neue"/>
                <a:cs typeface="Helvetica Neue"/>
              </a:defRPr>
            </a:pPr>
            <a:r>
              <a:rPr sz="1200" b="0">
                <a:solidFill>
                  <a:srgbClr val="66715F"/>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58E6DED5-5838-49BC-B1EA-06185CAF9D2B}"/>
              </a:ext>
            </a:extLst>
          </p:cNvPr>
          <p:cNvSpPr>
            <a:spLocks xmlns:a="http://schemas.openxmlformats.org/drawingml/2006/main" noGrp="1"/>
          </p:cNvSpPr>
          <p:nvPr/>
        </p:nvSpPr>
        <p:spPr>
          <a:xfrm xmlns:a="http://schemas.openxmlformats.org/drawingml/2006/main">
            <a:off x="609600" y="895350"/>
            <a:ext cx="1081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3329"/>
                </a:solidFill>
                <a:latin typeface="Helvetica Neue"/>
                <a:ea typeface="Helvetica Neue"/>
                <a:cs typeface="Helvetica Neue"/>
              </a:defRPr>
            </a:pPr>
            <a:r>
              <a:rPr sz="3600" b="1">
                <a:solidFill>
                  <a:srgbClr val="263329"/>
                </a:solidFill>
                <a:latin typeface="Helvetica Neue"/>
                <a:ea typeface="Helvetica Neue"/>
                <a:cs typeface="Helvetica Neue"/>
              </a:rPr>
              <a:t>What we tested</a:t>
            </a:r>
          </a:p>
        </p:txBody>
      </p:sp>
      <p:sp>
        <p:nvSpPr>
          <p:cNvPr id="4" name="">
            <a:extLst xmlns:a="http://schemas.openxmlformats.org/drawingml/2006/main">
              <a:ext uri="{FF2B5EF4-FFF2-40B4-BE49-F238E27FC236}">
                <a16:creationId xmlns:a16="http://schemas.microsoft.com/office/drawing/2014/main" id="{C90BFA42-1DA3-47A7-81B2-C961C322975B}"/>
              </a:ext>
            </a:extLst>
          </p:cNvPr>
          <p:cNvSpPr>
            <a:spLocks xmlns:a="http://schemas.openxmlformats.org/drawingml/2006/main" noGrp="1"/>
          </p:cNvSpPr>
          <p:nvPr/>
        </p:nvSpPr>
        <p:spPr>
          <a:xfrm xmlns:a="http://schemas.openxmlformats.org/drawingml/2006/main">
            <a:off x="619125" y="2076450"/>
            <a:ext cx="4572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900" b="1">
                <a:solidFill>
                  <a:srgbClr val="263329"/>
                </a:solidFill>
                <a:latin typeface="Helvetica Neue"/>
                <a:ea typeface="Helvetica Neue"/>
                <a:cs typeface="Helvetica Neue"/>
              </a:defRPr>
            </a:pPr>
            <a:r>
              <a:rPr sz="6900" b="1">
                <a:solidFill>
                  <a:srgbClr val="263329"/>
                </a:solidFill>
                <a:latin typeface="Helvetica Neue"/>
                <a:ea typeface="Helvetica Neue"/>
                <a:cs typeface="Helvetica Neue"/>
              </a:rPr>
              <a:t>36</a:t>
            </a:r>
          </a:p>
        </p:txBody>
      </p:sp>
      <p:sp>
        <p:nvSpPr>
          <p:cNvPr id="5" name="">
            <a:extLst xmlns:a="http://schemas.openxmlformats.org/drawingml/2006/main">
              <a:ext uri="{FF2B5EF4-FFF2-40B4-BE49-F238E27FC236}">
                <a16:creationId xmlns:a16="http://schemas.microsoft.com/office/drawing/2014/main" id="{EEDBDE19-95F9-4A2E-B8EE-FE2DA20AF879}"/>
              </a:ext>
            </a:extLst>
          </p:cNvPr>
          <p:cNvSpPr>
            <a:spLocks xmlns:a="http://schemas.openxmlformats.org/drawingml/2006/main" noGrp="1"/>
          </p:cNvSpPr>
          <p:nvPr/>
        </p:nvSpPr>
        <p:spPr>
          <a:xfrm xmlns:a="http://schemas.openxmlformats.org/drawingml/2006/main">
            <a:off x="647700" y="32289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63329"/>
                </a:solidFill>
                <a:latin typeface="Helvetica Neue"/>
                <a:ea typeface="Helvetica Neue"/>
                <a:cs typeface="Helvetica Neue"/>
              </a:defRPr>
            </a:pPr>
            <a:r>
              <a:rPr sz="2100" b="1">
                <a:solidFill>
                  <a:srgbClr val="263329"/>
                </a:solidFill>
                <a:latin typeface="Helvetica Neue"/>
                <a:ea typeface="Helvetica Neue"/>
                <a:cs typeface="Helvetica Neue"/>
              </a:rPr>
              <a:t>automated unit tests pass</a:t>
            </a:r>
          </a:p>
        </p:txBody>
      </p:sp>
      <p:sp>
        <p:nvSpPr>
          <p:cNvPr id="6" name="">
            <a:extLst xmlns:a="http://schemas.openxmlformats.org/drawingml/2006/main">
              <a:ext uri="{FF2B5EF4-FFF2-40B4-BE49-F238E27FC236}">
                <a16:creationId xmlns:a16="http://schemas.microsoft.com/office/drawing/2014/main" id="{F7B4CF1A-6281-49B8-851E-D7EE0278DF9D}"/>
              </a:ext>
            </a:extLst>
          </p:cNvPr>
          <p:cNvSpPr>
            <a:spLocks xmlns:a="http://schemas.openxmlformats.org/drawingml/2006/main" noGrp="1"/>
          </p:cNvSpPr>
          <p:nvPr/>
        </p:nvSpPr>
        <p:spPr>
          <a:xfrm xmlns:a="http://schemas.openxmlformats.org/drawingml/2006/main">
            <a:off x="647700" y="3962400"/>
            <a:ext cx="442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63329"/>
                </a:solidFill>
                <a:latin typeface="Helvetica Neue"/>
                <a:ea typeface="Helvetica Neue"/>
                <a:cs typeface="Helvetica Neue"/>
              </a:defRPr>
            </a:pPr>
            <a:r>
              <a:rPr sz="1875" b="0">
                <a:solidFill>
                  <a:srgbClr val="263329"/>
                </a:solidFill>
                <a:latin typeface="Helvetica Neue"/>
                <a:ea typeface="Helvetica Neue"/>
                <a:cs typeface="Helvetica Neue"/>
              </a:rPr>
              <a:t>10 public Firebase browser tests pass across workflow, sign-in, persistence, exports and mobile use.</a:t>
            </a:r>
          </a:p>
        </p:txBody>
      </p:sp>
      <p:sp>
        <p:nvSpPr>
          <p:cNvPr id="7" name="">
            <a:extLst xmlns:a="http://schemas.openxmlformats.org/drawingml/2006/main">
              <a:ext uri="{FF2B5EF4-FFF2-40B4-BE49-F238E27FC236}">
                <a16:creationId xmlns:a16="http://schemas.microsoft.com/office/drawing/2014/main" id="{30AFABA8-34BE-4D8F-8EC1-1DD31F740810}"/>
              </a:ext>
            </a:extLst>
          </p:cNvPr>
          <p:cNvSpPr>
            <a:spLocks xmlns:a="http://schemas.openxmlformats.org/drawingml/2006/main" noGrp="1"/>
          </p:cNvSpPr>
          <p:nvPr/>
        </p:nvSpPr>
        <p:spPr>
          <a:xfrm xmlns:a="http://schemas.openxmlformats.org/drawingml/2006/main">
            <a:off x="6238875" y="22764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63329"/>
                </a:solidFill>
                <a:latin typeface="Helvetica Neue"/>
                <a:ea typeface="Helvetica Neue"/>
                <a:cs typeface="Helvetica Neue"/>
              </a:defRPr>
            </a:pPr>
            <a:r>
              <a:rPr sz="2550" b="1">
                <a:solidFill>
                  <a:srgbClr val="263329"/>
                </a:solidFill>
                <a:latin typeface="Helvetica Neue"/>
                <a:ea typeface="Helvetica Neue"/>
                <a:cs typeface="Helvetica Neue"/>
              </a:rPr>
              <a:t>12 synthetic descriptions</a:t>
            </a:r>
          </a:p>
        </p:txBody>
      </p:sp>
      <p:sp>
        <p:nvSpPr>
          <p:cNvPr id="8" name="">
            <a:extLst xmlns:a="http://schemas.openxmlformats.org/drawingml/2006/main">
              <a:ext uri="{FF2B5EF4-FFF2-40B4-BE49-F238E27FC236}">
                <a16:creationId xmlns:a16="http://schemas.microsoft.com/office/drawing/2014/main" id="{DD16BE4C-ACE8-452C-A93A-95EF26B6CEA2}"/>
              </a:ext>
            </a:extLst>
          </p:cNvPr>
          <p:cNvSpPr>
            <a:spLocks xmlns:a="http://schemas.openxmlformats.org/drawingml/2006/main" noGrp="1"/>
          </p:cNvSpPr>
          <p:nvPr/>
        </p:nvSpPr>
        <p:spPr>
          <a:xfrm xmlns:a="http://schemas.openxmlformats.org/drawingml/2006/main">
            <a:off x="6267450" y="3009900"/>
            <a:ext cx="52387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63329"/>
                </a:solidFill>
                <a:latin typeface="Helvetica Neue"/>
                <a:ea typeface="Helvetica Neue"/>
                <a:cs typeface="Helvetica Neue"/>
              </a:defRPr>
            </a:pPr>
            <a:r>
              <a:rPr sz="2025" b="0">
                <a:solidFill>
                  <a:srgbClr val="263329"/>
                </a:solidFill>
                <a:latin typeface="Helvetica Neue"/>
                <a:ea typeface="Helvetica Neue"/>
                <a:cs typeface="Helvetica Neue"/>
              </a:rPr>
              <a:t>6 relevant examples in a toy set.</a:t>
            </a:r>
          </a:p>
          <a:p xmlns:a="http://schemas.openxmlformats.org/drawingml/2006/main">
            <a:pPr>
              <a:defRPr sz="2025" b="0">
                <a:solidFill>
                  <a:srgbClr val="263329"/>
                </a:solidFill>
                <a:latin typeface="Helvetica Neue"/>
                <a:ea typeface="Helvetica Neue"/>
                <a:cs typeface="Helvetica Neue"/>
              </a:defRPr>
            </a:pPr>
            <a:r>
              <a:rPr sz="2025" b="0">
                <a:solidFill>
                  <a:srgbClr val="263329"/>
                </a:solidFill>
                <a:latin typeface="Helvetica Neue"/>
                <a:ea typeface="Helvetica Neue"/>
                <a:cs typeface="Helvetica Neue"/>
              </a:rPr>
              <a:t>Semantic top 6 retrieved 5 of them.</a:t>
            </a:r>
          </a:p>
          <a:p xmlns:a="http://schemas.openxmlformats.org/drawingml/2006/main">
            <a:pPr>
              <a:defRPr sz="2025" b="0">
                <a:solidFill>
                  <a:srgbClr val="263329"/>
                </a:solidFill>
                <a:latin typeface="Helvetica Neue"/>
                <a:ea typeface="Helvetica Neue"/>
                <a:cs typeface="Helvetica Neue"/>
              </a:defRPr>
            </a:pPr>
            <a:r>
              <a:rPr sz="2025" b="0">
                <a:solidFill>
                  <a:srgbClr val="263329"/>
                </a:solidFill>
                <a:latin typeface="Helvetica Neue"/>
                <a:ea typeface="Helvetica Neue"/>
                <a:cs typeface="Helvetica Neue"/>
              </a:rPr>
              <a:t>Lexical matching found 4.</a:t>
            </a:r>
          </a:p>
        </p:txBody>
      </p:sp>
      <p:sp>
        <p:nvSpPr>
          <p:cNvPr id="9" name="">
            <a:extLst xmlns:a="http://schemas.openxmlformats.org/drawingml/2006/main">
              <a:ext uri="{FF2B5EF4-FFF2-40B4-BE49-F238E27FC236}">
                <a16:creationId xmlns:a16="http://schemas.microsoft.com/office/drawing/2014/main" id="{507E56CD-98B5-418A-BBB7-DADE8C05B5F0}"/>
              </a:ext>
            </a:extLst>
          </p:cNvPr>
          <p:cNvSpPr>
            <a:spLocks xmlns:a="http://schemas.openxmlformats.org/drawingml/2006/main" noGrp="1"/>
          </p:cNvSpPr>
          <p:nvPr/>
        </p:nvSpPr>
        <p:spPr>
          <a:xfrm xmlns:a="http://schemas.openxmlformats.org/drawingml/2006/main">
            <a:off x="6267450" y="44577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55C36"/>
                </a:solidFill>
                <a:latin typeface="Helvetica Neue"/>
                <a:ea typeface="Helvetica Neue"/>
                <a:cs typeface="Helvetica Neue"/>
              </a:defRPr>
            </a:pPr>
            <a:r>
              <a:rPr sz="1800" b="1">
                <a:solidFill>
                  <a:srgbClr val="B55C36"/>
                </a:solidFill>
                <a:latin typeface="Helvetica Neue"/>
                <a:ea typeface="Helvetica Neue"/>
                <a:cs typeface="Helvetica Neue"/>
              </a:rPr>
              <a:t>One plausible alias still missed.</a:t>
            </a:r>
          </a:p>
        </p:txBody>
      </p:sp>
      <p:sp>
        <p:nvSpPr>
          <p:cNvPr id="10" name="">
            <a:extLst xmlns:a="http://schemas.openxmlformats.org/drawingml/2006/main">
              <a:ext uri="{FF2B5EF4-FFF2-40B4-BE49-F238E27FC236}">
                <a16:creationId xmlns:a16="http://schemas.microsoft.com/office/drawing/2014/main" id="{D55FE8A3-3EE7-4011-9859-EC0603CDC16D}"/>
              </a:ext>
            </a:extLst>
          </p:cNvPr>
          <p:cNvSpPr>
            <a:spLocks xmlns:a="http://schemas.openxmlformats.org/drawingml/2006/main" noGrp="1"/>
          </p:cNvSpPr>
          <p:nvPr/>
        </p:nvSpPr>
        <p:spPr>
          <a:xfrm xmlns:a="http://schemas.openxmlformats.org/drawingml/2006/main">
            <a:off x="647700" y="5543550"/>
            <a:ext cx="106013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55C36"/>
                </a:solidFill>
                <a:latin typeface="Helvetica Neue"/>
                <a:ea typeface="Helvetica Neue"/>
                <a:cs typeface="Helvetica Neue"/>
              </a:defRPr>
            </a:pPr>
            <a:r>
              <a:rPr sz="1950" b="0">
                <a:solidFill>
                  <a:srgbClr val="B55C36"/>
                </a:solidFill>
                <a:latin typeface="Helvetica Neue"/>
                <a:ea typeface="Helvetica Neue"/>
                <a:cs typeface="Helvetica Neue"/>
              </a:rPr>
              <a:t>Hand-authored examples, with a threshold tuned after inspection. No accuracy or clinical validation claim.</a:t>
            </a:r>
          </a:p>
        </p:txBody>
      </p:sp>
    </p:spTree>
    <p:extLst>
      <p:ext uri="{BB962C8B-B14F-4D97-AF65-F5344CB8AC3E}">
        <p14:creationId xmlns:p14="http://schemas.microsoft.com/office/powerpoint/2010/main" val="2146711248"/>
      </p:ext>
    </p:extLst>
  </p:cSld>
</p:sld>
</file>

<file path=ppt/slides/slide7.xml><?xml version="1.0" encoding="utf-8"?>
<p:sld xmlns:p="http://schemas.openxmlformats.org/presentationml/2006/main">
  <p:cSld>
    <p:bg>
      <p:bgPr>
        <a:solidFill xmlns:a="http://schemas.openxmlformats.org/drawingml/2006/main">
          <a:srgbClr val="26332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C965DC1-89A4-435C-9346-214473D950CE}"/>
              </a:ext>
            </a:extLst>
          </p:cNvPr>
          <p:cNvSpPr>
            <a:spLocks xmlns:a="http://schemas.openxmlformats.org/drawingml/2006/main" noGrp="1"/>
          </p:cNvSpPr>
          <p:nvPr/>
        </p:nvSpPr>
        <p:spPr>
          <a:xfrm xmlns:a="http://schemas.openxmlformats.org/drawingml/2006/main">
            <a:off x="609600" y="2667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DEC8B"/>
                </a:solidFill>
                <a:latin typeface="Helvetica Neue"/>
                <a:ea typeface="Helvetica Neue"/>
                <a:cs typeface="Helvetica Neue"/>
              </a:defRPr>
            </a:pPr>
            <a:r>
              <a:rPr sz="1650" b="1">
                <a:solidFill>
                  <a:srgbClr val="DDEC8B"/>
                </a:solidFill>
                <a:latin typeface="Helvetica Neue"/>
                <a:ea typeface="Helvetica Neue"/>
                <a:cs typeface="Helvetica Neue"/>
              </a:rPr>
              <a:t>lotlight</a:t>
            </a:r>
          </a:p>
        </p:txBody>
      </p:sp>
      <p:sp>
        <p:nvSpPr>
          <p:cNvPr id="2" name="">
            <a:extLst xmlns:a="http://schemas.openxmlformats.org/drawingml/2006/main">
              <a:ext uri="{FF2B5EF4-FFF2-40B4-BE49-F238E27FC236}">
                <a16:creationId xmlns:a16="http://schemas.microsoft.com/office/drawing/2014/main" id="{4929A45B-F2B7-4D6D-8378-B6873AEF6A49}"/>
              </a:ext>
            </a:extLst>
          </p:cNvPr>
          <p:cNvSpPr>
            <a:spLocks xmlns:a="http://schemas.openxmlformats.org/drawingml/2006/main" noGrp="1"/>
          </p:cNvSpPr>
          <p:nvPr/>
        </p:nvSpPr>
        <p:spPr>
          <a:xfrm xmlns:a="http://schemas.openxmlformats.org/drawingml/2006/main">
            <a:off x="10953750" y="285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99E"/>
                </a:solidFill>
                <a:latin typeface="Helvetica Neue"/>
                <a:ea typeface="Helvetica Neue"/>
                <a:cs typeface="Helvetica Neue"/>
              </a:defRPr>
            </a:pPr>
            <a:r>
              <a:rPr sz="1200" b="0">
                <a:solidFill>
                  <a:srgbClr val="ACB99E"/>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4A69E0A6-2288-497E-93C0-6186705555F2}"/>
              </a:ext>
            </a:extLst>
          </p:cNvPr>
          <p:cNvSpPr>
            <a:spLocks xmlns:a="http://schemas.openxmlformats.org/drawingml/2006/main" noGrp="1"/>
          </p:cNvSpPr>
          <p:nvPr/>
        </p:nvSpPr>
        <p:spPr>
          <a:xfrm xmlns:a="http://schemas.openxmlformats.org/drawingml/2006/main">
            <a:off x="609600" y="1000125"/>
            <a:ext cx="109061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1">
                <a:solidFill>
                  <a:srgbClr val="F8F9F5"/>
                </a:solidFill>
                <a:latin typeface="Helvetica Neue"/>
                <a:ea typeface="Helvetica Neue"/>
                <a:cs typeface="Helvetica Neue"/>
              </a:defRPr>
            </a:pPr>
            <a:r>
              <a:rPr sz="5025" b="1">
                <a:solidFill>
                  <a:srgbClr val="F8F9F5"/>
                </a:solidFill>
                <a:latin typeface="Helvetica Neue"/>
                <a:ea typeface="Helvetica Neue"/>
                <a:cs typeface="Helvetica Neue"/>
              </a:rPr>
              <a:t>The next proof belongs</a:t>
            </a:r>
          </a:p>
          <a:p xmlns:a="http://schemas.openxmlformats.org/drawingml/2006/main">
            <a:pPr>
              <a:defRPr sz="5025" b="1">
                <a:solidFill>
                  <a:srgbClr val="F8F9F5"/>
                </a:solidFill>
                <a:latin typeface="Helvetica Neue"/>
                <a:ea typeface="Helvetica Neue"/>
                <a:cs typeface="Helvetica Neue"/>
              </a:defRPr>
            </a:pPr>
            <a:r>
              <a:rPr sz="5025" b="1">
                <a:solidFill>
                  <a:srgbClr val="F8F9F5"/>
                </a:solidFill>
                <a:latin typeface="Helvetica Neue"/>
                <a:ea typeface="Helvetica Neue"/>
                <a:cs typeface="Helvetica Neue"/>
              </a:rPr>
              <a:t>in a clinic.</a:t>
            </a:r>
          </a:p>
        </p:txBody>
      </p:sp>
      <p:sp>
        <p:nvSpPr>
          <p:cNvPr id="4" name="">
            <a:extLst xmlns:a="http://schemas.openxmlformats.org/drawingml/2006/main">
              <a:ext uri="{FF2B5EF4-FFF2-40B4-BE49-F238E27FC236}">
                <a16:creationId xmlns:a16="http://schemas.microsoft.com/office/drawing/2014/main" id="{9067ECDB-E4B7-4C21-AFF4-31EC93727DDD}"/>
              </a:ext>
            </a:extLst>
          </p:cNvPr>
          <p:cNvSpPr>
            <a:spLocks xmlns:a="http://schemas.openxmlformats.org/drawingml/2006/main" noGrp="1"/>
          </p:cNvSpPr>
          <p:nvPr/>
        </p:nvSpPr>
        <p:spPr>
          <a:xfrm xmlns:a="http://schemas.openxmlformats.org/drawingml/2006/main">
            <a:off x="647700" y="3181350"/>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DDEC8B"/>
                </a:solidFill>
                <a:latin typeface="Helvetica Neue"/>
                <a:ea typeface="Helvetica Neue"/>
                <a:cs typeface="Helvetica Neue"/>
              </a:defRPr>
            </a:pPr>
            <a:r>
              <a:rPr sz="3150" b="1">
                <a:solidFill>
                  <a:srgbClr val="DDEC8B"/>
                </a:solidFill>
                <a:latin typeface="Helvetica Neue"/>
                <a:ea typeface="Helvetica Neue"/>
                <a:cs typeface="Helvetica Neue"/>
              </a:rPr>
              <a:t>A supervised recall drill</a:t>
            </a:r>
          </a:p>
        </p:txBody>
      </p:sp>
      <p:sp>
        <p:nvSpPr>
          <p:cNvPr id="5" name="">
            <a:extLst xmlns:a="http://schemas.openxmlformats.org/drawingml/2006/main">
              <a:ext uri="{FF2B5EF4-FFF2-40B4-BE49-F238E27FC236}">
                <a16:creationId xmlns:a16="http://schemas.microsoft.com/office/drawing/2014/main" id="{0885D7A0-2241-4773-B0B4-0E8F75B5925C}"/>
              </a:ext>
            </a:extLst>
          </p:cNvPr>
          <p:cNvSpPr>
            <a:spLocks xmlns:a="http://schemas.openxmlformats.org/drawingml/2006/main" noGrp="1"/>
          </p:cNvSpPr>
          <p:nvPr/>
        </p:nvSpPr>
        <p:spPr>
          <a:xfrm xmlns:a="http://schemas.openxmlformats.org/drawingml/2006/main">
            <a:off x="647700" y="399097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8F9F5"/>
                </a:solidFill>
                <a:latin typeface="Helvetica Neue"/>
                <a:ea typeface="Helvetica Neue"/>
                <a:cs typeface="Helvetica Neue"/>
              </a:defRPr>
            </a:pPr>
            <a:r>
              <a:rPr sz="2175" b="0">
                <a:solidFill>
                  <a:srgbClr val="F8F9F5"/>
                </a:solidFill>
                <a:latin typeface="Helvetica Neue"/>
                <a:ea typeface="Helvetica Neue"/>
                <a:cs typeface="Helvetica Neue"/>
              </a:rPr>
              <a:t>Recruit 3 pilot clinics. Compare review time and missed identifiers.</a:t>
            </a:r>
          </a:p>
          <a:p xmlns:a="http://schemas.openxmlformats.org/drawingml/2006/main">
            <a:pPr>
              <a:defRPr sz="2175" b="0">
                <a:solidFill>
                  <a:srgbClr val="F8F9F5"/>
                </a:solidFill>
                <a:latin typeface="Helvetica Neue"/>
                <a:ea typeface="Helvetica Neue"/>
                <a:cs typeface="Helvetica Neue"/>
              </a:defRPr>
            </a:pPr>
            <a:r>
              <a:rPr sz="2175" b="0">
                <a:solidFill>
                  <a:srgbClr val="F8F9F5"/>
                </a:solidFill>
                <a:latin typeface="Helvetica Neue"/>
                <a:ea typeface="Helvetica Neue"/>
                <a:cs typeface="Helvetica Neue"/>
              </a:rPr>
              <a:t>Ask whether the evidence record is useful enough to pay for.</a:t>
            </a:r>
          </a:p>
        </p:txBody>
      </p:sp>
      <p:sp>
        <p:nvSpPr>
          <p:cNvPr id="6" name="">
            <a:extLst xmlns:a="http://schemas.openxmlformats.org/drawingml/2006/main">
              <a:ext uri="{FF2B5EF4-FFF2-40B4-BE49-F238E27FC236}">
                <a16:creationId xmlns:a16="http://schemas.microsoft.com/office/drawing/2014/main" id="{B48CBFF7-D941-4A33-B60A-93AD08415094}"/>
              </a:ext>
            </a:extLst>
          </p:cNvPr>
          <p:cNvSpPr>
            <a:spLocks xmlns:a="http://schemas.openxmlformats.org/drawingml/2006/main" noGrp="1"/>
          </p:cNvSpPr>
          <p:nvPr/>
        </p:nvSpPr>
        <p:spPr>
          <a:xfrm xmlns:a="http://schemas.openxmlformats.org/drawingml/2006/main">
            <a:off x="647700" y="5610225"/>
            <a:ext cx="6705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DDEC8B"/>
                </a:solidFill>
                <a:latin typeface="Helvetica Neue"/>
                <a:ea typeface="Helvetica Neue"/>
                <a:cs typeface="Helvetica Neue"/>
              </a:defRPr>
            </a:pPr>
            <a:r>
              <a:rPr sz="2850" b="1">
                <a:solidFill>
                  <a:srgbClr val="DDEC8B"/>
                </a:solidFill>
                <a:latin typeface="Helvetica Neue"/>
                <a:ea typeface="Helvetica Neue"/>
                <a:cs typeface="Helvetica Neue"/>
              </a:rPr>
              <a:t>lotlight-care.web.app</a:t>
            </a:r>
          </a:p>
        </p:txBody>
      </p:sp>
      <p:sp>
        <p:nvSpPr>
          <p:cNvPr id="7" name="">
            <a:extLst xmlns:a="http://schemas.openxmlformats.org/drawingml/2006/main">
              <a:ext uri="{FF2B5EF4-FFF2-40B4-BE49-F238E27FC236}">
                <a16:creationId xmlns:a16="http://schemas.microsoft.com/office/drawing/2014/main" id="{6C52DB82-C3E5-4AD9-BC36-1C6536DF332E}"/>
              </a:ext>
            </a:extLst>
          </p:cNvPr>
          <p:cNvSpPr>
            <a:spLocks xmlns:a="http://schemas.openxmlformats.org/drawingml/2006/main" noGrp="1"/>
          </p:cNvSpPr>
          <p:nvPr/>
        </p:nvSpPr>
        <p:spPr>
          <a:xfrm xmlns:a="http://schemas.openxmlformats.org/drawingml/2006/main">
            <a:off x="647700" y="619125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D7DFD0"/>
                </a:solidFill>
                <a:latin typeface="Helvetica Neue"/>
                <a:ea typeface="Helvetica Neue"/>
                <a:cs typeface="Helvetica Neue"/>
              </a:defRPr>
            </a:pPr>
            <a:r>
              <a:rPr sz="1500" b="0">
                <a:solidFill>
                  <a:srgbClr val="D7DFD0"/>
                </a:solidFill>
                <a:latin typeface="Helvetica Neue"/>
                <a:ea typeface="Helvetica Neue"/>
                <a:cs typeface="Helvetica Neue"/>
              </a:rPr>
              <a:t>169-second AI-narrated demo with captions</a:t>
            </a:r>
          </a:p>
        </p:txBody>
      </p:sp>
      <p:sp>
        <p:nvSpPr>
          <p:cNvPr id="8" name="">
            <a:extLst xmlns:a="http://schemas.openxmlformats.org/drawingml/2006/main">
              <a:ext uri="{FF2B5EF4-FFF2-40B4-BE49-F238E27FC236}">
                <a16:creationId xmlns:a16="http://schemas.microsoft.com/office/drawing/2014/main" id="{3B6B0722-788B-46A4-9DF1-55616E2B0C6D}"/>
              </a:ext>
            </a:extLst>
          </p:cNvPr>
          <p:cNvSpPr>
            <a:spLocks xmlns:a="http://schemas.openxmlformats.org/drawingml/2006/main" noGrp="1"/>
          </p:cNvSpPr>
          <p:nvPr/>
        </p:nvSpPr>
        <p:spPr>
          <a:xfrm xmlns:a="http://schemas.openxmlformats.org/drawingml/2006/main">
            <a:off x="7686675" y="5734050"/>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D7DFD0"/>
                </a:solidFill>
                <a:latin typeface="Helvetica Neue"/>
                <a:ea typeface="Helvetica Neue"/>
                <a:cs typeface="Helvetica Neue"/>
              </a:defRPr>
            </a:pPr>
            <a:r>
              <a:rPr sz="1500" b="0">
                <a:solidFill>
                  <a:srgbClr val="D7DFD0"/>
                </a:solidFill>
                <a:latin typeface="Helvetica Neue"/>
                <a:ea typeface="Helvetica Neue"/>
                <a:cs typeface="Helvetica Neue"/>
              </a:rPr>
              <a:t>Shivam Gupta</a:t>
            </a:r>
          </a:p>
          <a:p xmlns:a="http://schemas.openxmlformats.org/drawingml/2006/main">
            <a:pPr>
              <a:defRPr sz="1500" b="0">
                <a:solidFill>
                  <a:srgbClr val="D7DFD0"/>
                </a:solidFill>
                <a:latin typeface="Helvetica Neue"/>
                <a:ea typeface="Helvetica Neue"/>
                <a:cs typeface="Helvetica Neue"/>
              </a:defRPr>
            </a:pPr>
            <a:r>
              <a:rPr sz="1500" b="0">
                <a:solidFill>
                  <a:srgbClr val="D7DFD0"/>
                </a:solidFill>
                <a:latin typeface="Helvetica Neue"/>
                <a:ea typeface="Helvetica Neue"/>
                <a:cs typeface="Helvetica Neue"/>
              </a:rPr>
              <a:t>AI-assisted research and development</a:t>
            </a:r>
          </a:p>
        </p:txBody>
      </p:sp>
    </p:spTree>
    <p:extLst>
      <p:ext uri="{BB962C8B-B14F-4D97-AF65-F5344CB8AC3E}">
        <p14:creationId xmlns:p14="http://schemas.microsoft.com/office/powerpoint/2010/main" val="2228057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2026-09-16T13:23:54.9930000Z</dcterms:created>
  <dcterms:modified xsi:type="dcterms:W3CDTF">2026-09-16T13:23:54.9930000Z</dcterms:modified>
</coreProperties>
</file>